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Roboto" charset="1" panose="02000000000000000000"/>
      <p:regular r:id="rId19"/>
    </p:embeddedFont>
    <p:embeddedFont>
      <p:font typeface="TT Bluescreens Bold" charset="1" panose="02000806040000020004"/>
      <p:regular r:id="rId20"/>
    </p:embeddedFont>
    <p:embeddedFont>
      <p:font typeface="Canva Sans" charset="1" panose="020B0503030501040103"/>
      <p:regular r:id="rId21"/>
    </p:embeddedFont>
    <p:embeddedFont>
      <p:font typeface="TT Bluescreens" charset="1" panose="02000508040000020004"/>
      <p:regular r:id="rId22"/>
    </p:embeddedFont>
    <p:embeddedFont>
      <p:font typeface="TT Bluescreens Medium" charset="1" panose="02000808040000020004"/>
      <p:regular r:id="rId23"/>
    </p:embeddedFont>
    <p:embeddedFont>
      <p:font typeface="Roboto Bold" charset="1" panose="02000000000000000000"/>
      <p:regular r:id="rId24"/>
    </p:embeddedFont>
    <p:embeddedFont>
      <p:font typeface="Bebas Neue" charset="1" panose="00000500000000000000"/>
      <p:regular r:id="rId25"/>
    </p:embeddedFont>
    <p:embeddedFont>
      <p:font typeface="Nunito Sans Bold" charset="1" panose="00000000000000000000"/>
      <p:regular r:id="rId26"/>
    </p:embeddedFont>
    <p:embeddedFont>
      <p:font typeface="Bebas Neue Bold" charset="1" panose="020B0606020202050201"/>
      <p:regular r:id="rId27"/>
    </p:embeddedFont>
    <p:embeddedFont>
      <p:font typeface="Inter Bold" charset="1" panose="020005030000000200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12" Target="../media/image19.png" Type="http://schemas.openxmlformats.org/officeDocument/2006/relationships/image"/><Relationship Id="rId13" Target="../media/image20.png" Type="http://schemas.openxmlformats.org/officeDocument/2006/relationships/image"/><Relationship Id="rId14" Target="../media/image21.png" Type="http://schemas.openxmlformats.org/officeDocument/2006/relationships/image"/><Relationship Id="rId15" Target="../media/image22.png" Type="http://schemas.openxmlformats.org/officeDocument/2006/relationships/image"/><Relationship Id="rId16" Target="../media/image23.png" Type="http://schemas.openxmlformats.org/officeDocument/2006/relationships/image"/><Relationship Id="rId17" Target="../media/image24.png" Type="http://schemas.openxmlformats.org/officeDocument/2006/relationships/image"/><Relationship Id="rId18" Target="../media/image25.png" Type="http://schemas.openxmlformats.org/officeDocument/2006/relationships/image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png" Type="http://schemas.openxmlformats.org/officeDocument/2006/relationships/image"/><Relationship Id="rId12" Target="../media/image53.png" Type="http://schemas.openxmlformats.org/officeDocument/2006/relationships/image"/><Relationship Id="rId13" Target="../media/image54.png" Type="http://schemas.openxmlformats.org/officeDocument/2006/relationships/image"/><Relationship Id="rId14" Target="../media/image55.png" Type="http://schemas.openxmlformats.org/officeDocument/2006/relationships/image"/><Relationship Id="rId15" Target="../media/image56.png" Type="http://schemas.openxmlformats.org/officeDocument/2006/relationships/image"/><Relationship Id="rId16" Target="../media/image57.png" Type="http://schemas.openxmlformats.org/officeDocument/2006/relationships/image"/><Relationship Id="rId17" Target="../media/image58.png" Type="http://schemas.openxmlformats.org/officeDocument/2006/relationships/image"/><Relationship Id="rId18" Target="../media/image59.png" Type="http://schemas.openxmlformats.org/officeDocument/2006/relationships/image"/><Relationship Id="rId19" Target="../media/image60.png" Type="http://schemas.openxmlformats.org/officeDocument/2006/relationships/image"/><Relationship Id="rId2" Target="../media/image43.png" Type="http://schemas.openxmlformats.org/officeDocument/2006/relationships/image"/><Relationship Id="rId20" Target="../media/image61.png" Type="http://schemas.openxmlformats.org/officeDocument/2006/relationships/image"/><Relationship Id="rId21" Target="../media/image62.png" Type="http://schemas.openxmlformats.org/officeDocument/2006/relationships/image"/><Relationship Id="rId22" Target="../media/image63.png" Type="http://schemas.openxmlformats.org/officeDocument/2006/relationships/image"/><Relationship Id="rId23" Target="../media/image64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6.png" Type="http://schemas.openxmlformats.org/officeDocument/2006/relationships/image"/><Relationship Id="rId4" Target="../media/image67.png" Type="http://schemas.openxmlformats.org/officeDocument/2006/relationships/image"/><Relationship Id="rId5" Target="../media/image68.png" Type="http://schemas.openxmlformats.org/officeDocument/2006/relationships/image"/><Relationship Id="rId6" Target="../media/image69.png" Type="http://schemas.openxmlformats.org/officeDocument/2006/relationships/image"/><Relationship Id="rId7" Target="../media/image70.png" Type="http://schemas.openxmlformats.org/officeDocument/2006/relationships/image"/><Relationship Id="rId8" Target="../media/image71.pn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Relationship Id="rId3" Target="../media/image74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5.png" Type="http://schemas.openxmlformats.org/officeDocument/2006/relationships/image"/><Relationship Id="rId11" Target="../media/image86.png" Type="http://schemas.openxmlformats.org/officeDocument/2006/relationships/image"/><Relationship Id="rId2" Target="../media/image77.png" Type="http://schemas.openxmlformats.org/officeDocument/2006/relationships/image"/><Relationship Id="rId3" Target="../media/image78.png" Type="http://schemas.openxmlformats.org/officeDocument/2006/relationships/image"/><Relationship Id="rId4" Target="../media/image79.png" Type="http://schemas.openxmlformats.org/officeDocument/2006/relationships/image"/><Relationship Id="rId5" Target="../media/image80.png" Type="http://schemas.openxmlformats.org/officeDocument/2006/relationships/image"/><Relationship Id="rId6" Target="../media/image81.png" Type="http://schemas.openxmlformats.org/officeDocument/2006/relationships/image"/><Relationship Id="rId7" Target="../media/image82.png" Type="http://schemas.openxmlformats.org/officeDocument/2006/relationships/image"/><Relationship Id="rId8" Target="../media/image83.png" Type="http://schemas.openxmlformats.org/officeDocument/2006/relationships/image"/><Relationship Id="rId9" Target="../media/image8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png" Type="http://schemas.openxmlformats.org/officeDocument/2006/relationships/image"/><Relationship Id="rId11" Target="../media/image96.png" Type="http://schemas.openxmlformats.org/officeDocument/2006/relationships/image"/><Relationship Id="rId12" Target="../media/image97.png" Type="http://schemas.openxmlformats.org/officeDocument/2006/relationships/image"/><Relationship Id="rId13" Target="../media/image98.png" Type="http://schemas.openxmlformats.org/officeDocument/2006/relationships/image"/><Relationship Id="rId14" Target="../media/image99.png" Type="http://schemas.openxmlformats.org/officeDocument/2006/relationships/image"/><Relationship Id="rId15" Target="../media/image100.png" Type="http://schemas.openxmlformats.org/officeDocument/2006/relationships/image"/><Relationship Id="rId16" Target="../media/image101.png" Type="http://schemas.openxmlformats.org/officeDocument/2006/relationships/image"/><Relationship Id="rId17" Target="../media/image102.png" Type="http://schemas.openxmlformats.org/officeDocument/2006/relationships/image"/><Relationship Id="rId18" Target="../media/image103.png" Type="http://schemas.openxmlformats.org/officeDocument/2006/relationships/image"/><Relationship Id="rId2" Target="../media/image87.png" Type="http://schemas.openxmlformats.org/officeDocument/2006/relationships/image"/><Relationship Id="rId3" Target="../media/image88.png" Type="http://schemas.openxmlformats.org/officeDocument/2006/relationships/image"/><Relationship Id="rId4" Target="../media/image89.png" Type="http://schemas.openxmlformats.org/officeDocument/2006/relationships/image"/><Relationship Id="rId5" Target="../media/image90.png" Type="http://schemas.openxmlformats.org/officeDocument/2006/relationships/image"/><Relationship Id="rId6" Target="../media/image91.png" Type="http://schemas.openxmlformats.org/officeDocument/2006/relationships/image"/><Relationship Id="rId7" Target="../media/image92.png" Type="http://schemas.openxmlformats.org/officeDocument/2006/relationships/image"/><Relationship Id="rId8" Target="../media/image93.png" Type="http://schemas.openxmlformats.org/officeDocument/2006/relationships/image"/><Relationship Id="rId9" Target="../media/image9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4.png" Type="http://schemas.openxmlformats.org/officeDocument/2006/relationships/image"/><Relationship Id="rId3" Target="../media/image105.png" Type="http://schemas.openxmlformats.org/officeDocument/2006/relationships/image"/><Relationship Id="rId4" Target="../media/image106.png" Type="http://schemas.openxmlformats.org/officeDocument/2006/relationships/image"/><Relationship Id="rId5" Target="../media/image107.png" Type="http://schemas.openxmlformats.org/officeDocument/2006/relationships/image"/><Relationship Id="rId6" Target="../media/image10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9.png" Type="http://schemas.openxmlformats.org/officeDocument/2006/relationships/image"/><Relationship Id="rId3" Target="../media/image110.png" Type="http://schemas.openxmlformats.org/officeDocument/2006/relationships/image"/><Relationship Id="rId4" Target="../media/image1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50220" y="0"/>
            <a:ext cx="10237780" cy="10287000"/>
          </a:xfrm>
          <a:custGeom>
            <a:avLst/>
            <a:gdLst/>
            <a:ahLst/>
            <a:cxnLst/>
            <a:rect r="r" b="b" t="t" l="l"/>
            <a:pathLst>
              <a:path h="10287000" w="10237780">
                <a:moveTo>
                  <a:pt x="0" y="0"/>
                </a:moveTo>
                <a:lnTo>
                  <a:pt x="10237780" y="0"/>
                </a:lnTo>
                <a:lnTo>
                  <a:pt x="102377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854356"/>
            <a:ext cx="1968804" cy="3432644"/>
          </a:xfrm>
          <a:custGeom>
            <a:avLst/>
            <a:gdLst/>
            <a:ahLst/>
            <a:cxnLst/>
            <a:rect r="r" b="b" t="t" l="l"/>
            <a:pathLst>
              <a:path h="3432644" w="1968804">
                <a:moveTo>
                  <a:pt x="0" y="0"/>
                </a:moveTo>
                <a:lnTo>
                  <a:pt x="1968804" y="0"/>
                </a:lnTo>
                <a:lnTo>
                  <a:pt x="1968804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39110" y="7925691"/>
            <a:ext cx="5884536" cy="2361309"/>
          </a:xfrm>
          <a:custGeom>
            <a:avLst/>
            <a:gdLst/>
            <a:ahLst/>
            <a:cxnLst/>
            <a:rect r="r" b="b" t="t" l="l"/>
            <a:pathLst>
              <a:path h="2361309" w="5884536">
                <a:moveTo>
                  <a:pt x="0" y="0"/>
                </a:moveTo>
                <a:lnTo>
                  <a:pt x="5884536" y="0"/>
                </a:lnTo>
                <a:lnTo>
                  <a:pt x="5884536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39110" y="8133399"/>
            <a:ext cx="3707914" cy="1945894"/>
          </a:xfrm>
          <a:custGeom>
            <a:avLst/>
            <a:gdLst/>
            <a:ahLst/>
            <a:cxnLst/>
            <a:rect r="r" b="b" t="t" l="l"/>
            <a:pathLst>
              <a:path h="1945894" w="3707914">
                <a:moveTo>
                  <a:pt x="0" y="0"/>
                </a:moveTo>
                <a:lnTo>
                  <a:pt x="3707914" y="0"/>
                </a:lnTo>
                <a:lnTo>
                  <a:pt x="3707914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93952" y="426348"/>
            <a:ext cx="10894048" cy="9860652"/>
          </a:xfrm>
          <a:custGeom>
            <a:avLst/>
            <a:gdLst/>
            <a:ahLst/>
            <a:cxnLst/>
            <a:rect r="r" b="b" t="t" l="l"/>
            <a:pathLst>
              <a:path h="9860652" w="10894048">
                <a:moveTo>
                  <a:pt x="0" y="0"/>
                </a:moveTo>
                <a:lnTo>
                  <a:pt x="10894048" y="0"/>
                </a:lnTo>
                <a:lnTo>
                  <a:pt x="10894048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101866" y="1071335"/>
            <a:ext cx="437512" cy="437279"/>
          </a:xfrm>
          <a:custGeom>
            <a:avLst/>
            <a:gdLst/>
            <a:ahLst/>
            <a:cxnLst/>
            <a:rect r="r" b="b" t="t" l="l"/>
            <a:pathLst>
              <a:path h="437279" w="437512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295312">
            <a:off x="12083689" y="2027860"/>
            <a:ext cx="2658622" cy="698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392" spc="55">
                <a:solidFill>
                  <a:srgbClr val="79B268"/>
                </a:solidFill>
                <a:latin typeface="Roboto"/>
                <a:ea typeface="Roboto"/>
                <a:cs typeface="Roboto"/>
                <a:sym typeface="Roboto"/>
              </a:rPr>
              <a:t>import </a:t>
            </a:r>
            <a:r>
              <a:rPr lang="en-US" sz="1392" spc="55">
                <a:solidFill>
                  <a:srgbClr val="8C52FF"/>
                </a:solidFill>
                <a:latin typeface="Roboto"/>
                <a:ea typeface="Roboto"/>
                <a:cs typeface="Roboto"/>
                <a:sym typeface="Roboto"/>
              </a:rPr>
              <a:t>pandas </a:t>
            </a:r>
            <a:r>
              <a:rPr lang="en-US" sz="1392" spc="55">
                <a:solidFill>
                  <a:srgbClr val="79B268"/>
                </a:solidFill>
                <a:latin typeface="Roboto"/>
                <a:ea typeface="Roboto"/>
                <a:cs typeface="Roboto"/>
                <a:sym typeface="Roboto"/>
              </a:rPr>
              <a:t>as </a:t>
            </a:r>
            <a:r>
              <a:rPr lang="en-US" sz="1392" spc="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pd</a:t>
            </a:r>
          </a:p>
          <a:p>
            <a:pPr algn="l">
              <a:lnSpc>
                <a:spcPts val="1949"/>
              </a:lnSpc>
            </a:pPr>
            <a:r>
              <a:rPr lang="en-US" sz="1392" spc="55">
                <a:solidFill>
                  <a:srgbClr val="79B268"/>
                </a:solidFill>
                <a:latin typeface="Roboto"/>
                <a:ea typeface="Roboto"/>
                <a:cs typeface="Roboto"/>
                <a:sym typeface="Roboto"/>
              </a:rPr>
              <a:t>import </a:t>
            </a:r>
            <a:r>
              <a:rPr lang="en-US" sz="1392" spc="55">
                <a:solidFill>
                  <a:srgbClr val="8C52FF"/>
                </a:solidFill>
                <a:latin typeface="Roboto"/>
                <a:ea typeface="Roboto"/>
                <a:cs typeface="Roboto"/>
                <a:sym typeface="Roboto"/>
              </a:rPr>
              <a:t>numpy </a:t>
            </a:r>
            <a:r>
              <a:rPr lang="en-US" sz="1392" spc="55">
                <a:solidFill>
                  <a:srgbClr val="79B268"/>
                </a:solidFill>
                <a:latin typeface="Roboto"/>
                <a:ea typeface="Roboto"/>
                <a:cs typeface="Roboto"/>
                <a:sym typeface="Roboto"/>
              </a:rPr>
              <a:t>as </a:t>
            </a:r>
            <a:r>
              <a:rPr lang="en-US" sz="1392" spc="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np</a:t>
            </a:r>
          </a:p>
          <a:p>
            <a:pPr algn="l">
              <a:lnSpc>
                <a:spcPts val="1949"/>
              </a:lnSpc>
            </a:pPr>
            <a:r>
              <a:rPr lang="en-US" sz="1392" spc="55">
                <a:solidFill>
                  <a:srgbClr val="79B268"/>
                </a:solidFill>
                <a:latin typeface="Roboto"/>
                <a:ea typeface="Roboto"/>
                <a:cs typeface="Roboto"/>
                <a:sym typeface="Roboto"/>
              </a:rPr>
              <a:t>import </a:t>
            </a:r>
            <a:r>
              <a:rPr lang="en-US" sz="1392" spc="55">
                <a:solidFill>
                  <a:srgbClr val="8C52FF"/>
                </a:solidFill>
                <a:latin typeface="Roboto"/>
                <a:ea typeface="Roboto"/>
                <a:cs typeface="Roboto"/>
                <a:sym typeface="Roboto"/>
              </a:rPr>
              <a:t>.matp</a:t>
            </a:r>
            <a:r>
              <a:rPr lang="en-US" sz="1392" spc="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otl</a:t>
            </a:r>
            <a:r>
              <a:rPr lang="en-US" sz="1392" spc="55">
                <a:solidFill>
                  <a:srgbClr val="8C52FF"/>
                </a:solidFill>
                <a:latin typeface="Roboto"/>
                <a:ea typeface="Roboto"/>
                <a:cs typeface="Roboto"/>
                <a:sym typeface="Roboto"/>
              </a:rPr>
              <a:t>ib</a:t>
            </a:r>
            <a:r>
              <a:rPr lang="en-US" sz="1392" spc="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.pyplot </a:t>
            </a:r>
            <a:r>
              <a:rPr lang="en-US" sz="1392" spc="55">
                <a:solidFill>
                  <a:srgbClr val="79B268"/>
                </a:solidFill>
                <a:latin typeface="Roboto"/>
                <a:ea typeface="Roboto"/>
                <a:cs typeface="Roboto"/>
                <a:sym typeface="Roboto"/>
              </a:rPr>
              <a:t>as </a:t>
            </a:r>
            <a:r>
              <a:rPr lang="en-US" sz="1392" spc="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plt</a:t>
            </a:r>
          </a:p>
        </p:txBody>
      </p:sp>
      <p:sp>
        <p:nvSpPr>
          <p:cNvPr name="TextBox 10" id="10"/>
          <p:cNvSpPr txBox="true"/>
          <p:nvPr/>
        </p:nvSpPr>
        <p:spPr>
          <a:xfrm rot="295312">
            <a:off x="11920047" y="3202605"/>
            <a:ext cx="2949321" cy="466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392" spc="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df = </a:t>
            </a:r>
            <a:r>
              <a:rPr lang="en-US" sz="1392" spc="55">
                <a:solidFill>
                  <a:srgbClr val="8C52FF"/>
                </a:solidFill>
                <a:latin typeface="Roboto"/>
                <a:ea typeface="Roboto"/>
                <a:cs typeface="Roboto"/>
                <a:sym typeface="Roboto"/>
              </a:rPr>
              <a:t>pd.rea</a:t>
            </a:r>
            <a:r>
              <a:rPr lang="en-US" sz="1392" spc="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d_</a:t>
            </a:r>
            <a:r>
              <a:rPr lang="en-US" sz="1392" spc="55">
                <a:solidFill>
                  <a:srgbClr val="8C52FF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1392" spc="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sv(</a:t>
            </a:r>
            <a:r>
              <a:rPr lang="en-US" sz="1392" spc="55">
                <a:solidFill>
                  <a:srgbClr val="8C52FF"/>
                </a:solidFill>
                <a:latin typeface="Roboto"/>
                <a:ea typeface="Roboto"/>
                <a:cs typeface="Roboto"/>
                <a:sym typeface="Roboto"/>
              </a:rPr>
              <a:t>"toysg</a:t>
            </a:r>
            <a:r>
              <a:rPr lang="en-US" sz="1392" spc="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1392" spc="55">
                <a:solidFill>
                  <a:srgbClr val="8C52FF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1392" spc="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up.</a:t>
            </a:r>
            <a:r>
              <a:rPr lang="en-US" sz="1392" spc="55">
                <a:solidFill>
                  <a:srgbClr val="8C52FF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1392" spc="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sv")</a:t>
            </a:r>
          </a:p>
          <a:p>
            <a:pPr algn="l">
              <a:lnSpc>
                <a:spcPts val="1949"/>
              </a:lnSpc>
            </a:pPr>
            <a:r>
              <a:rPr lang="en-US" sz="1392" spc="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df.head()</a:t>
            </a:r>
          </a:p>
        </p:txBody>
      </p:sp>
      <p:sp>
        <p:nvSpPr>
          <p:cNvPr name="TextBox 11" id="11"/>
          <p:cNvSpPr txBox="true"/>
          <p:nvPr/>
        </p:nvSpPr>
        <p:spPr>
          <a:xfrm rot="295312">
            <a:off x="13889779" y="4454274"/>
            <a:ext cx="845961" cy="1053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</a:pPr>
            <a:r>
              <a:rPr lang="en-US" sz="1318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Toys</a:t>
            </a:r>
          </a:p>
          <a:p>
            <a:pPr algn="ctr">
              <a:lnSpc>
                <a:spcPts val="2241"/>
              </a:lnSpc>
            </a:pPr>
            <a:r>
              <a:rPr lang="en-US" sz="1318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Toys</a:t>
            </a:r>
          </a:p>
          <a:p>
            <a:pPr algn="ctr">
              <a:lnSpc>
                <a:spcPts val="2241"/>
              </a:lnSpc>
            </a:pPr>
            <a:r>
              <a:rPr lang="en-US" sz="1318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Electronics</a:t>
            </a:r>
          </a:p>
          <a:p>
            <a:pPr algn="ctr">
              <a:lnSpc>
                <a:spcPts val="2241"/>
              </a:lnSpc>
            </a:pPr>
            <a:r>
              <a:rPr lang="en-US" sz="1318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Toys</a:t>
            </a:r>
          </a:p>
        </p:txBody>
      </p:sp>
      <p:sp>
        <p:nvSpPr>
          <p:cNvPr name="TextBox 12" id="12"/>
          <p:cNvSpPr txBox="true"/>
          <p:nvPr/>
        </p:nvSpPr>
        <p:spPr>
          <a:xfrm rot="295312">
            <a:off x="16412762" y="4655336"/>
            <a:ext cx="306687" cy="141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6"/>
              </a:lnSpc>
            </a:pPr>
            <a:r>
              <a:rPr lang="en-US" sz="1392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120</a:t>
            </a:r>
          </a:p>
          <a:p>
            <a:pPr algn="ctr">
              <a:lnSpc>
                <a:spcPts val="2366"/>
              </a:lnSpc>
            </a:pPr>
            <a:r>
              <a:rPr lang="en-US" sz="1392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85</a:t>
            </a:r>
          </a:p>
          <a:p>
            <a:pPr algn="ctr">
              <a:lnSpc>
                <a:spcPts val="2366"/>
              </a:lnSpc>
            </a:pPr>
            <a:r>
              <a:rPr lang="en-US" sz="1392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64</a:t>
            </a:r>
          </a:p>
          <a:p>
            <a:pPr algn="ctr">
              <a:lnSpc>
                <a:spcPts val="2366"/>
              </a:lnSpc>
            </a:pPr>
            <a:r>
              <a:rPr lang="en-US" sz="1392">
                <a:solidFill>
                  <a:srgbClr val="8C52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102</a:t>
            </a:r>
          </a:p>
          <a:p>
            <a:pPr algn="ctr">
              <a:lnSpc>
                <a:spcPts val="2366"/>
              </a:lnSpc>
            </a:pPr>
            <a:r>
              <a:rPr lang="en-US" sz="1392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91</a:t>
            </a:r>
          </a:p>
        </p:txBody>
      </p:sp>
      <p:sp>
        <p:nvSpPr>
          <p:cNvPr name="TextBox 13" id="13"/>
          <p:cNvSpPr txBox="true"/>
          <p:nvPr/>
        </p:nvSpPr>
        <p:spPr>
          <a:xfrm rot="448242">
            <a:off x="11477429" y="6788864"/>
            <a:ext cx="1939271" cy="1053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318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Toys</a:t>
            </a:r>
          </a:p>
          <a:p>
            <a:pPr algn="l">
              <a:lnSpc>
                <a:spcPts val="2241"/>
              </a:lnSpc>
            </a:pPr>
            <a:r>
              <a:rPr lang="en-US" sz="1318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Games</a:t>
            </a:r>
          </a:p>
          <a:p>
            <a:pPr algn="l">
              <a:lnSpc>
                <a:spcPts val="2241"/>
              </a:lnSpc>
            </a:pPr>
            <a:r>
              <a:rPr lang="en-US" sz="1318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Electronics</a:t>
            </a:r>
          </a:p>
          <a:p>
            <a:pPr algn="l">
              <a:lnSpc>
                <a:spcPts val="2241"/>
              </a:lnSpc>
            </a:pPr>
            <a:r>
              <a:rPr lang="en-US" sz="1318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Name: count, dtype: int64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017598" y="6635716"/>
            <a:ext cx="2625072" cy="1945894"/>
          </a:xfrm>
          <a:custGeom>
            <a:avLst/>
            <a:gdLst/>
            <a:ahLst/>
            <a:cxnLst/>
            <a:rect r="r" b="b" t="t" l="l"/>
            <a:pathLst>
              <a:path h="1945894" w="2625072">
                <a:moveTo>
                  <a:pt x="0" y="0"/>
                </a:moveTo>
                <a:lnTo>
                  <a:pt x="2625072" y="0"/>
                </a:lnTo>
                <a:lnTo>
                  <a:pt x="2625072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17228" y="2211046"/>
            <a:ext cx="8644345" cy="212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78"/>
              </a:lnSpc>
            </a:pPr>
            <a:r>
              <a:rPr lang="en-US" b="true" sz="15609" spc="-236">
                <a:solidFill>
                  <a:srgbClr val="FFFFFF"/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DAL DATO GREZZO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3762" y="3792435"/>
            <a:ext cx="5990938" cy="212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78"/>
              </a:lnSpc>
            </a:pPr>
            <a:r>
              <a:rPr lang="en-US" b="true" sz="15609" spc="-236">
                <a:solidFill>
                  <a:srgbClr val="FDD003"/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AL MODELLO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5779" y="5805126"/>
            <a:ext cx="7468168" cy="820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5"/>
              </a:lnSpc>
            </a:pPr>
            <a:r>
              <a:rPr lang="en-US" sz="2917">
                <a:solidFill>
                  <a:srgbClr val="FFFFFF">
                    <a:alpha val="89804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Il mio svolgimento del caso ToysGroup in Python, dal Task 1 al Task 7</a:t>
            </a:r>
          </a:p>
        </p:txBody>
      </p:sp>
      <p:sp>
        <p:nvSpPr>
          <p:cNvPr name="TextBox 18" id="18"/>
          <p:cNvSpPr txBox="true"/>
          <p:nvPr/>
        </p:nvSpPr>
        <p:spPr>
          <a:xfrm rot="400781">
            <a:off x="11469388" y="6260015"/>
            <a:ext cx="2531487" cy="23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392" spc="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df[</a:t>
            </a:r>
            <a:r>
              <a:rPr lang="en-US" sz="1392" spc="55">
                <a:solidFill>
                  <a:srgbClr val="8C52FF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lang="en-US" sz="1392" spc="55">
                <a:solidFill>
                  <a:srgbClr val="C26F4D"/>
                </a:solidFill>
                <a:latin typeface="Roboto"/>
                <a:ea typeface="Roboto"/>
                <a:cs typeface="Roboto"/>
                <a:sym typeface="Roboto"/>
              </a:rPr>
              <a:t>category</a:t>
            </a:r>
            <a:r>
              <a:rPr lang="en-US" sz="1392" spc="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"]</a:t>
            </a:r>
            <a:r>
              <a:rPr lang="en-US" sz="1392" spc="55">
                <a:solidFill>
                  <a:srgbClr val="C26F4D"/>
                </a:solidFill>
                <a:latin typeface="Roboto"/>
                <a:ea typeface="Roboto"/>
                <a:cs typeface="Roboto"/>
                <a:sym typeface="Roboto"/>
              </a:rPr>
              <a:t>.v</a:t>
            </a:r>
            <a:r>
              <a:rPr lang="en-US" sz="1392" spc="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1392" spc="55">
                <a:solidFill>
                  <a:srgbClr val="C26F4D"/>
                </a:solidFill>
                <a:latin typeface="Roboto"/>
                <a:ea typeface="Roboto"/>
                <a:cs typeface="Roboto"/>
                <a:sym typeface="Roboto"/>
              </a:rPr>
              <a:t>lue_c</a:t>
            </a:r>
            <a:r>
              <a:rPr lang="en-US" sz="1392" spc="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en-US" sz="1392" spc="55">
                <a:solidFill>
                  <a:srgbClr val="C26F4D"/>
                </a:solidFill>
                <a:latin typeface="Roboto"/>
                <a:ea typeface="Roboto"/>
                <a:cs typeface="Roboto"/>
                <a:sym typeface="Roboto"/>
              </a:rPr>
              <a:t>unt</a:t>
            </a:r>
            <a:r>
              <a:rPr lang="en-US" sz="1392" spc="5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s()</a:t>
            </a:r>
          </a:p>
        </p:txBody>
      </p:sp>
      <p:sp>
        <p:nvSpPr>
          <p:cNvPr name="TextBox 19" id="19"/>
          <p:cNvSpPr txBox="true"/>
          <p:nvPr/>
        </p:nvSpPr>
        <p:spPr>
          <a:xfrm rot="295312">
            <a:off x="15373284" y="4580032"/>
            <a:ext cx="456830" cy="141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6"/>
              </a:lnSpc>
            </a:pPr>
            <a:r>
              <a:rPr lang="en-US" sz="1392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19.99</a:t>
            </a:r>
          </a:p>
          <a:p>
            <a:pPr algn="ctr">
              <a:lnSpc>
                <a:spcPts val="2366"/>
              </a:lnSpc>
            </a:pPr>
            <a:r>
              <a:rPr lang="en-US" sz="1392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29.99</a:t>
            </a:r>
          </a:p>
          <a:p>
            <a:pPr algn="ctr">
              <a:lnSpc>
                <a:spcPts val="2366"/>
              </a:lnSpc>
            </a:pPr>
            <a:r>
              <a:rPr lang="en-US" sz="1392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49.99</a:t>
            </a:r>
          </a:p>
          <a:p>
            <a:pPr algn="ctr">
              <a:lnSpc>
                <a:spcPts val="2366"/>
              </a:lnSpc>
            </a:pPr>
            <a:r>
              <a:rPr lang="en-US" sz="1392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14.99</a:t>
            </a:r>
          </a:p>
          <a:p>
            <a:pPr algn="ctr">
              <a:lnSpc>
                <a:spcPts val="2366"/>
              </a:lnSpc>
            </a:pPr>
            <a:r>
              <a:rPr lang="en-US" sz="1392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24.99</a:t>
            </a:r>
          </a:p>
        </p:txBody>
      </p:sp>
      <p:sp>
        <p:nvSpPr>
          <p:cNvPr name="TextBox 20" id="20"/>
          <p:cNvSpPr txBox="true"/>
          <p:nvPr/>
        </p:nvSpPr>
        <p:spPr>
          <a:xfrm rot="295312">
            <a:off x="12432780" y="4378831"/>
            <a:ext cx="1021022" cy="457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2"/>
              </a:lnSpc>
            </a:pPr>
            <a:r>
              <a:rPr lang="en-US" sz="1148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Teddy Bear</a:t>
            </a:r>
          </a:p>
          <a:p>
            <a:pPr algn="ctr">
              <a:lnSpc>
                <a:spcPts val="1952"/>
              </a:lnSpc>
            </a:pPr>
            <a:r>
              <a:rPr lang="en-US" sz="1148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Building Blocks</a:t>
            </a:r>
          </a:p>
        </p:txBody>
      </p:sp>
      <p:sp>
        <p:nvSpPr>
          <p:cNvPr name="TextBox 21" id="21"/>
          <p:cNvSpPr txBox="true"/>
          <p:nvPr/>
        </p:nvSpPr>
        <p:spPr>
          <a:xfrm rot="295312">
            <a:off x="11924132" y="4232319"/>
            <a:ext cx="66106" cy="123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8"/>
              </a:lnSpc>
            </a:pPr>
            <a:r>
              <a:rPr lang="en-US" sz="904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</a:p>
          <a:p>
            <a:pPr algn="ctr">
              <a:lnSpc>
                <a:spcPts val="1538"/>
              </a:lnSpc>
            </a:pPr>
            <a:r>
              <a:rPr lang="en-US" sz="904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</a:p>
          <a:p>
            <a:pPr algn="ctr">
              <a:lnSpc>
                <a:spcPts val="1538"/>
              </a:lnSpc>
            </a:pPr>
            <a:r>
              <a:rPr lang="en-US" sz="904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</a:p>
          <a:p>
            <a:pPr algn="ctr">
              <a:lnSpc>
                <a:spcPts val="1538"/>
              </a:lnSpc>
            </a:pPr>
            <a:r>
              <a:rPr lang="en-US" sz="904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</a:p>
          <a:p>
            <a:pPr algn="ctr">
              <a:lnSpc>
                <a:spcPts val="1538"/>
              </a:lnSpc>
            </a:pPr>
            <a:r>
              <a:rPr lang="en-US" sz="904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</a:p>
          <a:p>
            <a:pPr algn="ctr">
              <a:lnSpc>
                <a:spcPts val="1538"/>
              </a:lnSpc>
            </a:pPr>
            <a:r>
              <a:rPr lang="en-US" sz="904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</a:p>
          <a:p>
            <a:pPr algn="ctr">
              <a:lnSpc>
                <a:spcPts val="1538"/>
              </a:lnSpc>
            </a:pPr>
            <a:r>
              <a:rPr lang="en-US" sz="904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</a:p>
        </p:txBody>
      </p:sp>
      <p:sp>
        <p:nvSpPr>
          <p:cNvPr name="TextBox 22" id="22"/>
          <p:cNvSpPr txBox="true"/>
          <p:nvPr/>
        </p:nvSpPr>
        <p:spPr>
          <a:xfrm rot="295312">
            <a:off x="14778033" y="6792662"/>
            <a:ext cx="198318" cy="123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8"/>
              </a:lnSpc>
            </a:pPr>
            <a:r>
              <a:rPr lang="en-US" sz="904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300</a:t>
            </a:r>
          </a:p>
          <a:p>
            <a:pPr algn="ctr">
              <a:lnSpc>
                <a:spcPts val="1538"/>
              </a:lnSpc>
            </a:pPr>
          </a:p>
          <a:p>
            <a:pPr algn="ctr">
              <a:lnSpc>
                <a:spcPts val="1538"/>
              </a:lnSpc>
            </a:pPr>
            <a:r>
              <a:rPr lang="en-US" sz="904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200</a:t>
            </a:r>
          </a:p>
          <a:p>
            <a:pPr algn="ctr">
              <a:lnSpc>
                <a:spcPts val="1538"/>
              </a:lnSpc>
            </a:pPr>
          </a:p>
          <a:p>
            <a:pPr algn="ctr">
              <a:lnSpc>
                <a:spcPts val="1538"/>
              </a:lnSpc>
            </a:pPr>
            <a:r>
              <a:rPr lang="en-US" sz="904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100</a:t>
            </a:r>
          </a:p>
          <a:p>
            <a:pPr algn="ctr">
              <a:lnSpc>
                <a:spcPts val="1538"/>
              </a:lnSpc>
            </a:pPr>
          </a:p>
          <a:p>
            <a:pPr algn="ctr">
              <a:lnSpc>
                <a:spcPts val="1538"/>
              </a:lnSpc>
            </a:pPr>
            <a:r>
              <a:rPr lang="en-US" sz="904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</a:p>
        </p:txBody>
      </p:sp>
      <p:sp>
        <p:nvSpPr>
          <p:cNvPr name="TextBox 23" id="23"/>
          <p:cNvSpPr txBox="true"/>
          <p:nvPr/>
        </p:nvSpPr>
        <p:spPr>
          <a:xfrm rot="295312">
            <a:off x="12343136" y="5463348"/>
            <a:ext cx="94682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235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Action Figure</a:t>
            </a:r>
          </a:p>
        </p:txBody>
      </p:sp>
      <p:sp>
        <p:nvSpPr>
          <p:cNvPr name="TextBox 24" id="24"/>
          <p:cNvSpPr txBox="true"/>
          <p:nvPr/>
        </p:nvSpPr>
        <p:spPr>
          <a:xfrm rot="295312">
            <a:off x="11497783" y="1082785"/>
            <a:ext cx="1205508" cy="436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227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jpyter</a:t>
            </a:r>
          </a:p>
        </p:txBody>
      </p:sp>
      <p:sp>
        <p:nvSpPr>
          <p:cNvPr name="TextBox 25" id="25"/>
          <p:cNvSpPr txBox="true"/>
          <p:nvPr/>
        </p:nvSpPr>
        <p:spPr>
          <a:xfrm rot="448242">
            <a:off x="16739301" y="8406266"/>
            <a:ext cx="883719" cy="273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1388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Electronics</a:t>
            </a:r>
          </a:p>
        </p:txBody>
      </p:sp>
      <p:sp>
        <p:nvSpPr>
          <p:cNvPr name="TextBox 26" id="26"/>
          <p:cNvSpPr txBox="true"/>
          <p:nvPr/>
        </p:nvSpPr>
        <p:spPr>
          <a:xfrm rot="295312">
            <a:off x="10885464" y="3706503"/>
            <a:ext cx="719059" cy="27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6"/>
              </a:lnSpc>
            </a:pPr>
            <a:r>
              <a:rPr lang="en-US" sz="1392" spc="208">
                <a:solidFill>
                  <a:srgbClr val="8C52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Out[2]:</a:t>
            </a:r>
          </a:p>
        </p:txBody>
      </p:sp>
      <p:sp>
        <p:nvSpPr>
          <p:cNvPr name="TextBox 27" id="27"/>
          <p:cNvSpPr txBox="true"/>
          <p:nvPr/>
        </p:nvSpPr>
        <p:spPr>
          <a:xfrm rot="295312">
            <a:off x="14082371" y="4137994"/>
            <a:ext cx="621511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235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category</a:t>
            </a:r>
          </a:p>
        </p:txBody>
      </p:sp>
      <p:sp>
        <p:nvSpPr>
          <p:cNvPr name="TextBox 28" id="28"/>
          <p:cNvSpPr txBox="true"/>
          <p:nvPr/>
        </p:nvSpPr>
        <p:spPr>
          <a:xfrm rot="295312">
            <a:off x="12750819" y="4017507"/>
            <a:ext cx="55213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235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product</a:t>
            </a:r>
          </a:p>
        </p:txBody>
      </p:sp>
      <p:sp>
        <p:nvSpPr>
          <p:cNvPr name="TextBox 29" id="29"/>
          <p:cNvSpPr txBox="true"/>
          <p:nvPr/>
        </p:nvSpPr>
        <p:spPr>
          <a:xfrm rot="448242">
            <a:off x="15993285" y="8310007"/>
            <a:ext cx="50582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235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Games</a:t>
            </a:r>
          </a:p>
        </p:txBody>
      </p:sp>
      <p:sp>
        <p:nvSpPr>
          <p:cNvPr name="TextBox 30" id="30"/>
          <p:cNvSpPr txBox="true"/>
          <p:nvPr/>
        </p:nvSpPr>
        <p:spPr>
          <a:xfrm rot="295312">
            <a:off x="15562919" y="4273541"/>
            <a:ext cx="3929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235" spc="61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price</a:t>
            </a:r>
          </a:p>
        </p:txBody>
      </p:sp>
      <p:sp>
        <p:nvSpPr>
          <p:cNvPr name="TextBox 31" id="31"/>
          <p:cNvSpPr txBox="true"/>
          <p:nvPr/>
        </p:nvSpPr>
        <p:spPr>
          <a:xfrm rot="295312">
            <a:off x="16357026" y="4348846"/>
            <a:ext cx="41738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235" spc="61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sales</a:t>
            </a:r>
          </a:p>
        </p:txBody>
      </p:sp>
      <p:sp>
        <p:nvSpPr>
          <p:cNvPr name="TextBox 32" id="32"/>
          <p:cNvSpPr txBox="true"/>
          <p:nvPr/>
        </p:nvSpPr>
        <p:spPr>
          <a:xfrm rot="448242">
            <a:off x="15320553" y="8219642"/>
            <a:ext cx="34650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235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Toys</a:t>
            </a:r>
          </a:p>
        </p:txBody>
      </p:sp>
      <p:sp>
        <p:nvSpPr>
          <p:cNvPr name="TextBox 33" id="33"/>
          <p:cNvSpPr txBox="true"/>
          <p:nvPr/>
        </p:nvSpPr>
        <p:spPr>
          <a:xfrm rot="295312">
            <a:off x="12126268" y="3942203"/>
            <a:ext cx="14567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235" spc="61">
                <a:solidFill>
                  <a:srgbClr val="FFFFFF">
                    <a:alpha val="74902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24205" y="1095619"/>
            <a:ext cx="5451350" cy="2447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4"/>
              </a:lnSpc>
            </a:pPr>
            <a:r>
              <a:rPr lang="en-US" sz="9188">
                <a:solidFill>
                  <a:srgbClr val="F6F6F6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SCENARIO E DATI DI PARTENZA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2457" y="3852709"/>
            <a:ext cx="6837088" cy="1240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1969" indent="-240985" lvl="1">
              <a:lnSpc>
                <a:spcPts val="3355"/>
              </a:lnSpc>
              <a:buFont typeface="Arial"/>
              <a:buChar char="•"/>
            </a:pPr>
            <a:r>
              <a:rPr lang="en-US" sz="2917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ToysGroup distribuisce giocattoli tramite rivenditori in diverse aree geografiche.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5205" y="5193124"/>
            <a:ext cx="6562332" cy="830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1969" indent="-240985" lvl="1">
              <a:lnSpc>
                <a:spcPts val="3355"/>
              </a:lnSpc>
              <a:buFont typeface="Arial"/>
              <a:buChar char="•"/>
            </a:pPr>
            <a:r>
              <a:rPr lang="en-US" sz="2917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Ho lavorato con file CSV, Excel e JSON forniti per l'esercitazione.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3645" y="6533539"/>
            <a:ext cx="6718330" cy="830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1969" indent="-240985" lvl="1">
              <a:lnSpc>
                <a:spcPts val="3355"/>
              </a:lnSpc>
              <a:buFont typeface="Arial"/>
              <a:buChar char="•"/>
            </a:pPr>
            <a:r>
              <a:rPr lang="en-US" sz="2917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Ho letto, pulito, analizzato e modellato i dati in Python.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3743" y="7889014"/>
            <a:ext cx="6708491" cy="1240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1969" indent="-240985" lvl="1">
              <a:lnSpc>
                <a:spcPts val="3355"/>
              </a:lnSpc>
              <a:buFont typeface="Arial"/>
              <a:buChar char="•"/>
            </a:pPr>
            <a:r>
              <a:rPr lang="en-US" sz="2917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Il flusso finale è raccolto in un notebook eseguibile dall'inizio alla fine.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612708" y="1071335"/>
            <a:ext cx="2625072" cy="2579949"/>
          </a:xfrm>
          <a:custGeom>
            <a:avLst/>
            <a:gdLst/>
            <a:ahLst/>
            <a:cxnLst/>
            <a:rect r="r" b="b" t="t" l="l"/>
            <a:pathLst>
              <a:path h="2579949" w="2625072">
                <a:moveTo>
                  <a:pt x="0" y="0"/>
                </a:moveTo>
                <a:lnTo>
                  <a:pt x="2625072" y="0"/>
                </a:lnTo>
                <a:lnTo>
                  <a:pt x="262507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072553" y="2910334"/>
            <a:ext cx="1733378" cy="429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7"/>
              </a:lnSpc>
            </a:pPr>
            <a:r>
              <a:rPr lang="en-US" b="true" sz="2227">
                <a:solidFill>
                  <a:srgbClr val="E6C227"/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ANAGRAFICHE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487732" y="1497682"/>
            <a:ext cx="1093780" cy="1289974"/>
          </a:xfrm>
          <a:custGeom>
            <a:avLst/>
            <a:gdLst/>
            <a:ahLst/>
            <a:cxnLst/>
            <a:rect r="r" b="b" t="t" l="l"/>
            <a:pathLst>
              <a:path h="1289974" w="1093780">
                <a:moveTo>
                  <a:pt x="0" y="0"/>
                </a:moveTo>
                <a:lnTo>
                  <a:pt x="1093780" y="0"/>
                </a:lnTo>
                <a:lnTo>
                  <a:pt x="1093780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26842" y="1071335"/>
            <a:ext cx="2406316" cy="2579949"/>
          </a:xfrm>
          <a:custGeom>
            <a:avLst/>
            <a:gdLst/>
            <a:ahLst/>
            <a:cxnLst/>
            <a:rect r="r" b="b" t="t" l="l"/>
            <a:pathLst>
              <a:path h="2579949" w="2406316">
                <a:moveTo>
                  <a:pt x="0" y="0"/>
                </a:moveTo>
                <a:lnTo>
                  <a:pt x="2406316" y="0"/>
                </a:lnTo>
                <a:lnTo>
                  <a:pt x="240631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904195" y="2910334"/>
            <a:ext cx="1031965" cy="429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7"/>
              </a:lnSpc>
            </a:pPr>
            <a:r>
              <a:rPr lang="en-US" b="true" sz="2227">
                <a:solidFill>
                  <a:srgbClr val="E6C227"/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VENDITE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664354" y="1497682"/>
            <a:ext cx="1531292" cy="1289974"/>
          </a:xfrm>
          <a:custGeom>
            <a:avLst/>
            <a:gdLst/>
            <a:ahLst/>
            <a:cxnLst/>
            <a:rect r="r" b="b" t="t" l="l"/>
            <a:pathLst>
              <a:path h="1289974" w="1531292">
                <a:moveTo>
                  <a:pt x="0" y="0"/>
                </a:moveTo>
                <a:lnTo>
                  <a:pt x="1531292" y="0"/>
                </a:lnTo>
                <a:lnTo>
                  <a:pt x="1531292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622220" y="1071335"/>
            <a:ext cx="2406316" cy="2579949"/>
          </a:xfrm>
          <a:custGeom>
            <a:avLst/>
            <a:gdLst/>
            <a:ahLst/>
            <a:cxnLst/>
            <a:rect r="r" b="b" t="t" l="l"/>
            <a:pathLst>
              <a:path h="2579949" w="2406316">
                <a:moveTo>
                  <a:pt x="0" y="0"/>
                </a:moveTo>
                <a:lnTo>
                  <a:pt x="2406316" y="0"/>
                </a:lnTo>
                <a:lnTo>
                  <a:pt x="240631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124875" y="2910334"/>
            <a:ext cx="1543903" cy="429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7"/>
              </a:lnSpc>
            </a:pPr>
            <a:r>
              <a:rPr lang="en-US" b="true" sz="2227">
                <a:solidFill>
                  <a:srgbClr val="E6C227"/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RIVENDITORI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278488" y="1497682"/>
            <a:ext cx="1093780" cy="1289974"/>
          </a:xfrm>
          <a:custGeom>
            <a:avLst/>
            <a:gdLst/>
            <a:ahLst/>
            <a:cxnLst/>
            <a:rect r="r" b="b" t="t" l="l"/>
            <a:pathLst>
              <a:path h="1289974" w="1093780">
                <a:moveTo>
                  <a:pt x="0" y="0"/>
                </a:moveTo>
                <a:lnTo>
                  <a:pt x="1093780" y="0"/>
                </a:lnTo>
                <a:lnTo>
                  <a:pt x="1093780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236354" y="1071335"/>
            <a:ext cx="2406316" cy="2579949"/>
          </a:xfrm>
          <a:custGeom>
            <a:avLst/>
            <a:gdLst/>
            <a:ahLst/>
            <a:cxnLst/>
            <a:rect r="r" b="b" t="t" l="l"/>
            <a:pathLst>
              <a:path h="2579949" w="2406316">
                <a:moveTo>
                  <a:pt x="0" y="0"/>
                </a:moveTo>
                <a:lnTo>
                  <a:pt x="2406316" y="0"/>
                </a:lnTo>
                <a:lnTo>
                  <a:pt x="240631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274928" y="2910064"/>
            <a:ext cx="2169768" cy="427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7"/>
              </a:lnSpc>
            </a:pPr>
            <a:r>
              <a:rPr lang="en-US" b="true" sz="2227">
                <a:solidFill>
                  <a:srgbClr val="E6C227"/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CONSEGNA FINALE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5892622" y="1497682"/>
            <a:ext cx="1093780" cy="1289974"/>
          </a:xfrm>
          <a:custGeom>
            <a:avLst/>
            <a:gdLst/>
            <a:ahLst/>
            <a:cxnLst/>
            <a:rect r="r" b="b" t="t" l="l"/>
            <a:pathLst>
              <a:path h="1289974" w="1093780">
                <a:moveTo>
                  <a:pt x="0" y="0"/>
                </a:moveTo>
                <a:lnTo>
                  <a:pt x="1093780" y="0"/>
                </a:lnTo>
                <a:lnTo>
                  <a:pt x="1093780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706488" y="3421712"/>
            <a:ext cx="2832890" cy="874559"/>
          </a:xfrm>
          <a:custGeom>
            <a:avLst/>
            <a:gdLst/>
            <a:ahLst/>
            <a:cxnLst/>
            <a:rect r="r" b="b" t="t" l="l"/>
            <a:pathLst>
              <a:path h="874559" w="2832890">
                <a:moveTo>
                  <a:pt x="0" y="0"/>
                </a:moveTo>
                <a:lnTo>
                  <a:pt x="2832890" y="0"/>
                </a:lnTo>
                <a:lnTo>
                  <a:pt x="283289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320622" y="3421712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403464" y="3421712"/>
            <a:ext cx="1531292" cy="874559"/>
          </a:xfrm>
          <a:custGeom>
            <a:avLst/>
            <a:gdLst/>
            <a:ahLst/>
            <a:cxnLst/>
            <a:rect r="r" b="b" t="t" l="l"/>
            <a:pathLst>
              <a:path h="874559" w="1531292">
                <a:moveTo>
                  <a:pt x="0" y="0"/>
                </a:moveTo>
                <a:lnTo>
                  <a:pt x="1531292" y="0"/>
                </a:lnTo>
                <a:lnTo>
                  <a:pt x="153129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403464" y="3421712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923818" y="3421712"/>
            <a:ext cx="2625072" cy="874559"/>
          </a:xfrm>
          <a:custGeom>
            <a:avLst/>
            <a:gdLst/>
            <a:ahLst/>
            <a:cxnLst/>
            <a:rect r="r" b="b" t="t" l="l"/>
            <a:pathLst>
              <a:path h="874559" w="2625072">
                <a:moveTo>
                  <a:pt x="0" y="0"/>
                </a:moveTo>
                <a:lnTo>
                  <a:pt x="2625072" y="0"/>
                </a:lnTo>
                <a:lnTo>
                  <a:pt x="262507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923818" y="3421712"/>
            <a:ext cx="2625072" cy="1727254"/>
          </a:xfrm>
          <a:custGeom>
            <a:avLst/>
            <a:gdLst/>
            <a:ahLst/>
            <a:cxnLst/>
            <a:rect r="r" b="b" t="t" l="l"/>
            <a:pathLst>
              <a:path h="1727254" w="2625072">
                <a:moveTo>
                  <a:pt x="0" y="0"/>
                </a:moveTo>
                <a:lnTo>
                  <a:pt x="2625072" y="0"/>
                </a:lnTo>
                <a:lnTo>
                  <a:pt x="262507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925244" y="4711687"/>
            <a:ext cx="7186134" cy="4941258"/>
          </a:xfrm>
          <a:custGeom>
            <a:avLst/>
            <a:gdLst/>
            <a:ahLst/>
            <a:cxnLst/>
            <a:rect r="r" b="b" t="t" l="l"/>
            <a:pathLst>
              <a:path h="4941258" w="7186134">
                <a:moveTo>
                  <a:pt x="0" y="0"/>
                </a:moveTo>
                <a:lnTo>
                  <a:pt x="7186134" y="0"/>
                </a:lnTo>
                <a:lnTo>
                  <a:pt x="7186134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101866" y="5564382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1802826" y="5743138"/>
            <a:ext cx="1115041" cy="416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sz="2917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Jupyter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44946" y="6633688"/>
            <a:ext cx="2077319" cy="198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531" b="true">
                <a:solidFill>
                  <a:srgbClr val="B76395">
                    <a:alpha val="89804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import </a:t>
            </a:r>
            <a:r>
              <a:rPr lang="en-US" sz="1531">
                <a:solidFill>
                  <a:srgbClr val="FFFFFF">
                    <a:alpha val="89804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pandas as pd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46039" y="7145757"/>
            <a:ext cx="1967987" cy="198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531" b="true">
                <a:solidFill>
                  <a:srgbClr val="36A84E">
                    <a:alpha val="89804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# Analisi dei dati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55879" y="7431913"/>
            <a:ext cx="983993" cy="198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531" b="true">
                <a:solidFill>
                  <a:srgbClr val="FFFFFF">
                    <a:alpha val="89804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df.head()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64354" y="149768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174023">
            <a:off x="11135300" y="1509900"/>
            <a:ext cx="964854" cy="397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sz="291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Jupyer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445598" y="2142670"/>
            <a:ext cx="1312536" cy="1508614"/>
          </a:xfrm>
          <a:custGeom>
            <a:avLst/>
            <a:gdLst/>
            <a:ahLst/>
            <a:cxnLst/>
            <a:rect r="r" b="b" t="t" l="l"/>
            <a:pathLst>
              <a:path h="1508614" w="1312536">
                <a:moveTo>
                  <a:pt x="0" y="0"/>
                </a:moveTo>
                <a:lnTo>
                  <a:pt x="1312536" y="0"/>
                </a:lnTo>
                <a:lnTo>
                  <a:pt x="131253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28440" y="2142670"/>
            <a:ext cx="3718852" cy="1934962"/>
          </a:xfrm>
          <a:custGeom>
            <a:avLst/>
            <a:gdLst/>
            <a:ahLst/>
            <a:cxnLst/>
            <a:rect r="r" b="b" t="t" l="l"/>
            <a:pathLst>
              <a:path h="1934962" w="3718852">
                <a:moveTo>
                  <a:pt x="0" y="0"/>
                </a:moveTo>
                <a:lnTo>
                  <a:pt x="3718852" y="0"/>
                </a:lnTo>
                <a:lnTo>
                  <a:pt x="3718852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174023">
            <a:off x="11679784" y="2590518"/>
            <a:ext cx="5501706" cy="994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prodotti = </a:t>
            </a:r>
            <a:r>
              <a:rPr lang="en-US" sz="1494" spc="-44">
                <a:solidFill>
                  <a:srgbClr val="43D142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list</a:t>
            </a: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(</a:t>
            </a:r>
            <a:r>
              <a:rPr lang="en-US" sz="1494" spc="-44">
                <a:solidFill>
                  <a:srgbClr val="55B8F4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dfprodotti.to dict</a:t>
            </a: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(orient="</a:t>
            </a:r>
            <a:r>
              <a:rPr lang="en-US" sz="1494" spc="-44">
                <a:solidFill>
                  <a:srgbClr val="E87360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records"</a:t>
            </a: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))</a:t>
            </a:r>
          </a:p>
          <a:p>
            <a:pPr algn="l">
              <a:lnSpc>
                <a:spcPts val="2241"/>
              </a:lnSpc>
            </a:pP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vendite = </a:t>
            </a:r>
            <a:r>
              <a:rPr lang="en-US" sz="1494" spc="-44">
                <a:solidFill>
                  <a:srgbClr val="43D142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list</a:t>
            </a: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(</a:t>
            </a:r>
            <a:r>
              <a:rPr lang="en-US" sz="1494" spc="-44">
                <a:solidFill>
                  <a:srgbClr val="55B8F4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df_vendite.to dict</a:t>
            </a: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(orient="</a:t>
            </a:r>
            <a:r>
              <a:rPr lang="en-US" sz="1494" spc="-44">
                <a:solidFill>
                  <a:srgbClr val="E87360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records"</a:t>
            </a: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))</a:t>
            </a:r>
          </a:p>
          <a:p>
            <a:pPr algn="l">
              <a:lnSpc>
                <a:spcPts val="2241"/>
              </a:lnSpc>
            </a:pP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regioni = </a:t>
            </a:r>
            <a:r>
              <a:rPr lang="en-US" sz="1494" spc="-44">
                <a:solidFill>
                  <a:srgbClr val="43D142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set</a:t>
            </a: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(</a:t>
            </a:r>
            <a:r>
              <a:rPr lang="en-US" sz="1494" spc="-44">
                <a:solidFill>
                  <a:srgbClr val="55B8F4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df_vendite</a:t>
            </a: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[</a:t>
            </a:r>
            <a:r>
              <a:rPr lang="en-US" sz="1494" spc="-44">
                <a:solidFill>
                  <a:srgbClr val="E87360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"regione</a:t>
            </a: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"])</a:t>
            </a:r>
          </a:p>
          <a:p>
            <a:pPr algn="l">
              <a:lnSpc>
                <a:spcPts val="2241"/>
              </a:lnSpc>
            </a:pP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categorie = </a:t>
            </a:r>
            <a:r>
              <a:rPr lang="en-US" sz="1494" spc="-44">
                <a:solidFill>
                  <a:srgbClr val="43D142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set</a:t>
            </a: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(</a:t>
            </a:r>
            <a:r>
              <a:rPr lang="en-US" sz="1494" spc="-44">
                <a:solidFill>
                  <a:srgbClr val="88B2C7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dfprodotti</a:t>
            </a: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[</a:t>
            </a:r>
            <a:r>
              <a:rPr lang="en-US" sz="1494" spc="-44">
                <a:solidFill>
                  <a:srgbClr val="E87360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"categoria"</a:t>
            </a: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445598" y="3640352"/>
            <a:ext cx="1093780" cy="863627"/>
          </a:xfrm>
          <a:custGeom>
            <a:avLst/>
            <a:gdLst/>
            <a:ahLst/>
            <a:cxnLst/>
            <a:rect r="r" b="b" t="t" l="l"/>
            <a:pathLst>
              <a:path h="863627" w="1093780">
                <a:moveTo>
                  <a:pt x="0" y="0"/>
                </a:moveTo>
                <a:lnTo>
                  <a:pt x="1093780" y="0"/>
                </a:lnTo>
                <a:lnTo>
                  <a:pt x="109378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528440" y="3640352"/>
            <a:ext cx="6759560" cy="1082267"/>
          </a:xfrm>
          <a:custGeom>
            <a:avLst/>
            <a:gdLst/>
            <a:ahLst/>
            <a:cxnLst/>
            <a:rect r="r" b="b" t="t" l="l"/>
            <a:pathLst>
              <a:path h="1082267" w="6759560">
                <a:moveTo>
                  <a:pt x="0" y="0"/>
                </a:moveTo>
                <a:lnTo>
                  <a:pt x="6759560" y="0"/>
                </a:lnTo>
                <a:lnTo>
                  <a:pt x="6759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320622" y="4285339"/>
            <a:ext cx="4582938" cy="1934962"/>
          </a:xfrm>
          <a:custGeom>
            <a:avLst/>
            <a:gdLst/>
            <a:ahLst/>
            <a:cxnLst/>
            <a:rect r="r" b="b" t="t" l="l"/>
            <a:pathLst>
              <a:path h="1934962" w="4582938">
                <a:moveTo>
                  <a:pt x="0" y="0"/>
                </a:moveTo>
                <a:lnTo>
                  <a:pt x="4582938" y="0"/>
                </a:lnTo>
                <a:lnTo>
                  <a:pt x="458293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26842" y="5783021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101866" y="5990729"/>
            <a:ext cx="7186134" cy="1300906"/>
          </a:xfrm>
          <a:custGeom>
            <a:avLst/>
            <a:gdLst/>
            <a:ahLst/>
            <a:cxnLst/>
            <a:rect r="r" b="b" t="t" l="l"/>
            <a:pathLst>
              <a:path h="1300906" w="7186134">
                <a:moveTo>
                  <a:pt x="0" y="0"/>
                </a:moveTo>
                <a:lnTo>
                  <a:pt x="7186134" y="0"/>
                </a:lnTo>
                <a:lnTo>
                  <a:pt x="718613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101866" y="6635716"/>
            <a:ext cx="4801694" cy="2153601"/>
          </a:xfrm>
          <a:custGeom>
            <a:avLst/>
            <a:gdLst/>
            <a:ahLst/>
            <a:cxnLst/>
            <a:rect r="r" b="b" t="t" l="l"/>
            <a:pathLst>
              <a:path h="2153601" w="4801694">
                <a:moveTo>
                  <a:pt x="0" y="0"/>
                </a:moveTo>
                <a:lnTo>
                  <a:pt x="4801694" y="0"/>
                </a:lnTo>
                <a:lnTo>
                  <a:pt x="4801694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258398">
            <a:off x="14357394" y="7907187"/>
            <a:ext cx="332310" cy="25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...</a:t>
            </a:r>
          </a:p>
        </p:txBody>
      </p:sp>
      <p:sp>
        <p:nvSpPr>
          <p:cNvPr name="TextBox 15" id="15"/>
          <p:cNvSpPr txBox="true"/>
          <p:nvPr/>
        </p:nvSpPr>
        <p:spPr>
          <a:xfrm rot="258398">
            <a:off x="11387384" y="6340832"/>
            <a:ext cx="5332305" cy="46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05" spc="-38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risultati = fatturato_categoria(df_vendite, dfprodotti)</a:t>
            </a:r>
          </a:p>
          <a:p>
            <a:pPr algn="l">
              <a:lnSpc>
                <a:spcPts val="1957"/>
              </a:lnSpc>
            </a:pPr>
            <a:r>
              <a:rPr lang="en-US" sz="1305" spc="-38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risultati.head()</a:t>
            </a:r>
          </a:p>
        </p:txBody>
      </p:sp>
      <p:sp>
        <p:nvSpPr>
          <p:cNvPr name="TextBox 16" id="16"/>
          <p:cNvSpPr txBox="true"/>
          <p:nvPr/>
        </p:nvSpPr>
        <p:spPr>
          <a:xfrm rot="174023">
            <a:off x="11633395" y="3976272"/>
            <a:ext cx="2104628" cy="25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df_categorie.head()</a:t>
            </a:r>
          </a:p>
        </p:txBody>
      </p:sp>
      <p:sp>
        <p:nvSpPr>
          <p:cNvPr name="TextBox 17" id="17"/>
          <p:cNvSpPr txBox="true"/>
          <p:nvPr/>
        </p:nvSpPr>
        <p:spPr>
          <a:xfrm rot="311132">
            <a:off x="11989242" y="8027704"/>
            <a:ext cx="1440009" cy="25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Abbigliamento</a:t>
            </a:r>
          </a:p>
        </p:txBody>
      </p:sp>
      <p:sp>
        <p:nvSpPr>
          <p:cNvPr name="TextBox 18" id="18"/>
          <p:cNvSpPr txBox="true"/>
          <p:nvPr/>
        </p:nvSpPr>
        <p:spPr>
          <a:xfrm rot="258398">
            <a:off x="12096036" y="5542635"/>
            <a:ext cx="1440009" cy="25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Abbigliamento</a:t>
            </a:r>
          </a:p>
        </p:txBody>
      </p:sp>
      <p:sp>
        <p:nvSpPr>
          <p:cNvPr name="TextBox 19" id="19"/>
          <p:cNvSpPr txBox="true"/>
          <p:nvPr/>
        </p:nvSpPr>
        <p:spPr>
          <a:xfrm rot="311132">
            <a:off x="12045035" y="7349966"/>
            <a:ext cx="1218469" cy="25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Elettronica</a:t>
            </a:r>
          </a:p>
        </p:txBody>
      </p:sp>
      <p:sp>
        <p:nvSpPr>
          <p:cNvPr name="TextBox 20" id="20"/>
          <p:cNvSpPr txBox="true"/>
          <p:nvPr/>
        </p:nvSpPr>
        <p:spPr>
          <a:xfrm rot="258398">
            <a:off x="12125040" y="4895019"/>
            <a:ext cx="1218469" cy="25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Elettronica</a:t>
            </a:r>
          </a:p>
        </p:txBody>
      </p:sp>
      <p:sp>
        <p:nvSpPr>
          <p:cNvPr name="TextBox 21" id="21"/>
          <p:cNvSpPr txBox="true"/>
          <p:nvPr/>
        </p:nvSpPr>
        <p:spPr>
          <a:xfrm rot="258398">
            <a:off x="14190013" y="7124024"/>
            <a:ext cx="996929" cy="25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fatturato</a:t>
            </a:r>
          </a:p>
        </p:txBody>
      </p:sp>
      <p:sp>
        <p:nvSpPr>
          <p:cNvPr name="TextBox 22" id="22"/>
          <p:cNvSpPr txBox="true"/>
          <p:nvPr/>
        </p:nvSpPr>
        <p:spPr>
          <a:xfrm rot="311132">
            <a:off x="10388544" y="6852959"/>
            <a:ext cx="775389" cy="25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spc="-44" b="true">
                <a:solidFill>
                  <a:srgbClr val="975CD1"/>
                </a:solidFill>
                <a:latin typeface="TT Bluescreens Medium"/>
                <a:ea typeface="TT Bluescreens Medium"/>
                <a:cs typeface="TT Bluescreens Medium"/>
                <a:sym typeface="TT Bluescreens Medium"/>
              </a:rPr>
              <a:t>Out[3]:</a:t>
            </a:r>
          </a:p>
        </p:txBody>
      </p:sp>
      <p:sp>
        <p:nvSpPr>
          <p:cNvPr name="TextBox 23" id="23"/>
          <p:cNvSpPr txBox="true"/>
          <p:nvPr/>
        </p:nvSpPr>
        <p:spPr>
          <a:xfrm rot="258398">
            <a:off x="10602494" y="4458255"/>
            <a:ext cx="775389" cy="25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spc="-44" b="true">
                <a:solidFill>
                  <a:srgbClr val="975CD1"/>
                </a:solidFill>
                <a:latin typeface="TT Bluescreens Medium"/>
                <a:ea typeface="TT Bluescreens Medium"/>
                <a:cs typeface="TT Bluescreens Medium"/>
                <a:sym typeface="TT Bluescreens Medium"/>
              </a:rPr>
              <a:t>Out[2]:</a:t>
            </a:r>
          </a:p>
        </p:txBody>
      </p:sp>
      <p:sp>
        <p:nvSpPr>
          <p:cNvPr name="TextBox 24" id="24"/>
          <p:cNvSpPr txBox="true"/>
          <p:nvPr/>
        </p:nvSpPr>
        <p:spPr>
          <a:xfrm rot="174023">
            <a:off x="10789438" y="2440066"/>
            <a:ext cx="775389" cy="25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spc="-44" b="true">
                <a:solidFill>
                  <a:srgbClr val="5E5DDC"/>
                </a:solidFill>
                <a:latin typeface="TT Bluescreens Medium"/>
                <a:ea typeface="TT Bluescreens Medium"/>
                <a:cs typeface="TT Bluescreens Medium"/>
                <a:sym typeface="TT Bluescreens Medium"/>
              </a:rPr>
              <a:t>In [1]:</a:t>
            </a:r>
          </a:p>
        </p:txBody>
      </p:sp>
      <p:sp>
        <p:nvSpPr>
          <p:cNvPr name="TextBox 25" id="25"/>
          <p:cNvSpPr txBox="true"/>
          <p:nvPr/>
        </p:nvSpPr>
        <p:spPr>
          <a:xfrm rot="174023">
            <a:off x="10655492" y="3900968"/>
            <a:ext cx="775389" cy="25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spc="-44" b="true">
                <a:solidFill>
                  <a:srgbClr val="5E5DDC"/>
                </a:solidFill>
                <a:latin typeface="TT Bluescreens Medium"/>
                <a:ea typeface="TT Bluescreens Medium"/>
                <a:cs typeface="TT Bluescreens Medium"/>
                <a:sym typeface="TT Bluescreens Medium"/>
              </a:rPr>
              <a:t>In [2]:</a:t>
            </a:r>
          </a:p>
        </p:txBody>
      </p:sp>
      <p:sp>
        <p:nvSpPr>
          <p:cNvPr name="TextBox 26" id="26"/>
          <p:cNvSpPr txBox="true"/>
          <p:nvPr/>
        </p:nvSpPr>
        <p:spPr>
          <a:xfrm rot="311132">
            <a:off x="12052789" y="7666244"/>
            <a:ext cx="443080" cy="25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Casa</a:t>
            </a:r>
          </a:p>
        </p:txBody>
      </p:sp>
      <p:sp>
        <p:nvSpPr>
          <p:cNvPr name="TextBox 27" id="27"/>
          <p:cNvSpPr txBox="true"/>
          <p:nvPr/>
        </p:nvSpPr>
        <p:spPr>
          <a:xfrm rot="258398">
            <a:off x="12132794" y="5196236"/>
            <a:ext cx="443080" cy="25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Casa</a:t>
            </a:r>
          </a:p>
        </p:txBody>
      </p:sp>
      <p:sp>
        <p:nvSpPr>
          <p:cNvPr name="TextBox 28" id="28"/>
          <p:cNvSpPr txBox="true"/>
          <p:nvPr/>
        </p:nvSpPr>
        <p:spPr>
          <a:xfrm rot="258398">
            <a:off x="11600336" y="4804654"/>
            <a:ext cx="110770" cy="25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0</a:t>
            </a:r>
          </a:p>
        </p:txBody>
      </p:sp>
      <p:sp>
        <p:nvSpPr>
          <p:cNvPr name="TextBox 29" id="29"/>
          <p:cNvSpPr txBox="true"/>
          <p:nvPr/>
        </p:nvSpPr>
        <p:spPr>
          <a:xfrm rot="258398">
            <a:off x="11412813" y="7244510"/>
            <a:ext cx="110770" cy="25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0</a:t>
            </a:r>
          </a:p>
        </p:txBody>
      </p:sp>
      <p:sp>
        <p:nvSpPr>
          <p:cNvPr name="TextBox 30" id="30"/>
          <p:cNvSpPr txBox="true"/>
          <p:nvPr/>
        </p:nvSpPr>
        <p:spPr>
          <a:xfrm rot="258398">
            <a:off x="11359234" y="7907187"/>
            <a:ext cx="110770" cy="25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2</a:t>
            </a:r>
          </a:p>
        </p:txBody>
      </p:sp>
      <p:sp>
        <p:nvSpPr>
          <p:cNvPr name="TextBox 31" id="31"/>
          <p:cNvSpPr txBox="true"/>
          <p:nvPr/>
        </p:nvSpPr>
        <p:spPr>
          <a:xfrm rot="258398">
            <a:off x="11412813" y="7575849"/>
            <a:ext cx="110770" cy="25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1</a:t>
            </a:r>
          </a:p>
        </p:txBody>
      </p:sp>
      <p:sp>
        <p:nvSpPr>
          <p:cNvPr name="TextBox 32" id="32"/>
          <p:cNvSpPr txBox="true"/>
          <p:nvPr/>
        </p:nvSpPr>
        <p:spPr>
          <a:xfrm rot="258398">
            <a:off x="11546758" y="5482392"/>
            <a:ext cx="110770" cy="25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2</a:t>
            </a:r>
          </a:p>
        </p:txBody>
      </p:sp>
      <p:sp>
        <p:nvSpPr>
          <p:cNvPr name="TextBox 33" id="33"/>
          <p:cNvSpPr txBox="true"/>
          <p:nvPr/>
        </p:nvSpPr>
        <p:spPr>
          <a:xfrm rot="258398">
            <a:off x="11600336" y="5151054"/>
            <a:ext cx="110770" cy="25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spc="-44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42950" y="895350"/>
            <a:ext cx="7810500" cy="706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85"/>
              </a:lnSpc>
              <a:spcBef>
                <a:spcPct val="0"/>
              </a:spcBef>
            </a:pPr>
            <a:r>
              <a:rPr lang="en-US" sz="4897" strike="noStrike" u="none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task 1 · python di base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42950" y="1772285"/>
            <a:ext cx="7810500" cy="2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Ho convertito i dati dei prodotti e delle vendite in strutture Python.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42950" y="2823972"/>
            <a:ext cx="7810500" cy="2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Ho organizzato regioni e categorie in dizionari per facilitare le ricerche.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42950" y="3647059"/>
            <a:ext cx="7810500" cy="2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Ho assegnato fasce di prezzo e calcolato il fatturato per categoria.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2950" y="4698746"/>
            <a:ext cx="7810500" cy="2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Ho contato le transazioni necessarie per superare la soglia di fatturato.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98574" y="1071335"/>
            <a:ext cx="13289426" cy="9215665"/>
          </a:xfrm>
          <a:custGeom>
            <a:avLst/>
            <a:gdLst/>
            <a:ahLst/>
            <a:cxnLst/>
            <a:rect r="r" b="b" t="t" l="l"/>
            <a:pathLst>
              <a:path h="9215665" w="13289426">
                <a:moveTo>
                  <a:pt x="0" y="0"/>
                </a:moveTo>
                <a:lnTo>
                  <a:pt x="13289426" y="0"/>
                </a:lnTo>
                <a:lnTo>
                  <a:pt x="13289426" y="9215665"/>
                </a:lnTo>
                <a:lnTo>
                  <a:pt x="0" y="92156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20622" y="207708"/>
            <a:ext cx="6967378" cy="9871584"/>
          </a:xfrm>
          <a:custGeom>
            <a:avLst/>
            <a:gdLst/>
            <a:ahLst/>
            <a:cxnLst/>
            <a:rect r="r" b="b" t="t" l="l"/>
            <a:pathLst>
              <a:path h="9871584" w="6967378">
                <a:moveTo>
                  <a:pt x="0" y="0"/>
                </a:moveTo>
                <a:lnTo>
                  <a:pt x="6967378" y="0"/>
                </a:lnTo>
                <a:lnTo>
                  <a:pt x="6967378" y="9871584"/>
                </a:lnTo>
                <a:lnTo>
                  <a:pt x="0" y="98715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506691" y="1822541"/>
            <a:ext cx="2178567" cy="52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spc="-14">
                <a:solidFill>
                  <a:srgbClr val="9651E4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import </a:t>
            </a:r>
            <a:r>
              <a:rPr lang="en-US" sz="1494" spc="-14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pandas </a:t>
            </a:r>
            <a:r>
              <a:rPr lang="en-US" sz="1494" spc="-14">
                <a:solidFill>
                  <a:srgbClr val="9651E4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as </a:t>
            </a:r>
            <a:r>
              <a:rPr lang="en-US" sz="1494" spc="-14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pd</a:t>
            </a:r>
          </a:p>
          <a:p>
            <a:pPr algn="l">
              <a:lnSpc>
                <a:spcPts val="2241"/>
              </a:lnSpc>
            </a:pPr>
            <a:r>
              <a:rPr lang="en-US" sz="1494" spc="-14">
                <a:solidFill>
                  <a:srgbClr val="9651E4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import </a:t>
            </a:r>
            <a:r>
              <a:rPr lang="en-US" sz="1494" spc="-14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numpy </a:t>
            </a:r>
            <a:r>
              <a:rPr lang="en-US" sz="1494" spc="-14">
                <a:solidFill>
                  <a:srgbClr val="9651E4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as </a:t>
            </a:r>
            <a:r>
              <a:rPr lang="en-US" sz="1494" spc="-14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np</a:t>
            </a:r>
          </a:p>
        </p:txBody>
      </p:sp>
      <p:sp>
        <p:nvSpPr>
          <p:cNvPr name="TextBox 6" id="6"/>
          <p:cNvSpPr txBox="true"/>
          <p:nvPr/>
        </p:nvSpPr>
        <p:spPr>
          <a:xfrm rot="84375">
            <a:off x="13438003" y="2681274"/>
            <a:ext cx="3748312" cy="1061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 spc="-14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df1 = pd.read_csv("file1.csv")</a:t>
            </a:r>
          </a:p>
          <a:p>
            <a:pPr algn="l">
              <a:lnSpc>
                <a:spcPts val="2241"/>
              </a:lnSpc>
            </a:pPr>
            <a:r>
              <a:rPr lang="en-US" sz="1494" spc="-14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df2 = pd.readexcel("file2.xlsx")</a:t>
            </a:r>
          </a:p>
          <a:p>
            <a:pPr algn="l">
              <a:lnSpc>
                <a:spcPts val="2241"/>
              </a:lnSpc>
            </a:pPr>
            <a:r>
              <a:rPr lang="en-US" sz="1494" spc="-14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df3 = pd read_csv("file3.csv")</a:t>
            </a:r>
          </a:p>
          <a:p>
            <a:pPr algn="l">
              <a:lnSpc>
                <a:spcPts val="2241"/>
              </a:lnSpc>
            </a:pPr>
            <a:r>
              <a:rPr lang="en-US" sz="1494" spc="-14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df4 = pd.read_excel("file4.xlsx")</a:t>
            </a:r>
          </a:p>
        </p:txBody>
      </p:sp>
      <p:sp>
        <p:nvSpPr>
          <p:cNvPr name="TextBox 7" id="7"/>
          <p:cNvSpPr txBox="true"/>
          <p:nvPr/>
        </p:nvSpPr>
        <p:spPr>
          <a:xfrm rot="174023">
            <a:off x="13410811" y="4378856"/>
            <a:ext cx="1218688" cy="863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5"/>
              </a:lnSpc>
            </a:pPr>
            <a:r>
              <a:rPr lang="en-US" sz="1670" spc="-16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df1.head()</a:t>
            </a:r>
          </a:p>
          <a:p>
            <a:pPr algn="l">
              <a:lnSpc>
                <a:spcPts val="2505"/>
              </a:lnSpc>
            </a:pPr>
            <a:r>
              <a:rPr lang="en-US" sz="1670" spc="-16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df1.info()</a:t>
            </a:r>
          </a:p>
          <a:p>
            <a:pPr algn="l">
              <a:lnSpc>
                <a:spcPts val="2505"/>
              </a:lnSpc>
            </a:pPr>
            <a:r>
              <a:rPr lang="en-US" sz="1670" spc="-16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df1.tail()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706488" y="5138034"/>
            <a:ext cx="8279914" cy="4514911"/>
          </a:xfrm>
          <a:custGeom>
            <a:avLst/>
            <a:gdLst/>
            <a:ahLst/>
            <a:cxnLst/>
            <a:rect r="r" b="b" t="t" l="l"/>
            <a:pathLst>
              <a:path h="4514911" w="8279914">
                <a:moveTo>
                  <a:pt x="0" y="0"/>
                </a:moveTo>
                <a:lnTo>
                  <a:pt x="8279914" y="0"/>
                </a:lnTo>
                <a:lnTo>
                  <a:pt x="8279914" y="4514911"/>
                </a:lnTo>
                <a:lnTo>
                  <a:pt x="0" y="45149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174023">
            <a:off x="9364946" y="5508291"/>
            <a:ext cx="1289668" cy="306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5"/>
              </a:lnSpc>
            </a:pPr>
            <a:r>
              <a:rPr lang="en-US" sz="1670" spc="-16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df1.head()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12651" y="1110482"/>
            <a:ext cx="1031734" cy="306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5"/>
              </a:lnSpc>
            </a:pPr>
            <a:r>
              <a:rPr lang="en-US" sz="1670" spc="-16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∆ jupyer</a:t>
            </a:r>
          </a:p>
        </p:txBody>
      </p:sp>
      <p:sp>
        <p:nvSpPr>
          <p:cNvPr name="TextBox 11" id="11"/>
          <p:cNvSpPr txBox="true"/>
          <p:nvPr/>
        </p:nvSpPr>
        <p:spPr>
          <a:xfrm rot="237304">
            <a:off x="10571159" y="8277994"/>
            <a:ext cx="1181659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Mappamondo</a:t>
            </a:r>
          </a:p>
        </p:txBody>
      </p:sp>
      <p:sp>
        <p:nvSpPr>
          <p:cNvPr name="TextBox 12" id="12"/>
          <p:cNvSpPr txBox="true"/>
          <p:nvPr/>
        </p:nvSpPr>
        <p:spPr>
          <a:xfrm rot="142382">
            <a:off x="13490170" y="6274874"/>
            <a:ext cx="1229566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prezzoUnitario</a:t>
            </a:r>
          </a:p>
        </p:txBody>
      </p:sp>
      <p:sp>
        <p:nvSpPr>
          <p:cNvPr name="TextBox 13" id="13"/>
          <p:cNvSpPr txBox="true"/>
          <p:nvPr/>
        </p:nvSpPr>
        <p:spPr>
          <a:xfrm rot="142382">
            <a:off x="12127093" y="6636334"/>
            <a:ext cx="913018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Cancelleria</a:t>
            </a:r>
          </a:p>
        </p:txBody>
      </p:sp>
      <p:sp>
        <p:nvSpPr>
          <p:cNvPr name="TextBox 14" id="14"/>
          <p:cNvSpPr txBox="true"/>
          <p:nvPr/>
        </p:nvSpPr>
        <p:spPr>
          <a:xfrm rot="142382">
            <a:off x="12100304" y="7073098"/>
            <a:ext cx="913018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Cancelleria</a:t>
            </a:r>
          </a:p>
        </p:txBody>
      </p:sp>
      <p:sp>
        <p:nvSpPr>
          <p:cNvPr name="TextBox 15" id="15"/>
          <p:cNvSpPr txBox="true"/>
          <p:nvPr/>
        </p:nvSpPr>
        <p:spPr>
          <a:xfrm rot="237304">
            <a:off x="12047243" y="7946656"/>
            <a:ext cx="913018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Cancelleria</a:t>
            </a:r>
          </a:p>
        </p:txBody>
      </p:sp>
      <p:sp>
        <p:nvSpPr>
          <p:cNvPr name="TextBox 16" id="16"/>
          <p:cNvSpPr txBox="true"/>
          <p:nvPr/>
        </p:nvSpPr>
        <p:spPr>
          <a:xfrm rot="237304">
            <a:off x="12048987" y="8353299"/>
            <a:ext cx="738699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Didattica</a:t>
            </a:r>
          </a:p>
        </p:txBody>
      </p:sp>
      <p:sp>
        <p:nvSpPr>
          <p:cNvPr name="TextBox 17" id="17"/>
          <p:cNvSpPr txBox="true"/>
          <p:nvPr/>
        </p:nvSpPr>
        <p:spPr>
          <a:xfrm rot="237304">
            <a:off x="12075371" y="7494831"/>
            <a:ext cx="779146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Accessori</a:t>
            </a:r>
          </a:p>
        </p:txBody>
      </p:sp>
      <p:sp>
        <p:nvSpPr>
          <p:cNvPr name="TextBox 18" id="18"/>
          <p:cNvSpPr txBox="true"/>
          <p:nvPr/>
        </p:nvSpPr>
        <p:spPr>
          <a:xfrm rot="142382">
            <a:off x="10627542" y="6982733"/>
            <a:ext cx="849374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Quaderno</a:t>
            </a:r>
          </a:p>
        </p:txBody>
      </p:sp>
      <p:sp>
        <p:nvSpPr>
          <p:cNvPr name="TextBox 19" id="19"/>
          <p:cNvSpPr txBox="true"/>
          <p:nvPr/>
        </p:nvSpPr>
        <p:spPr>
          <a:xfrm rot="142382">
            <a:off x="12155319" y="6199569"/>
            <a:ext cx="769367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categoria</a:t>
            </a:r>
          </a:p>
        </p:txBody>
      </p:sp>
      <p:sp>
        <p:nvSpPr>
          <p:cNvPr name="TextBox 20" id="20"/>
          <p:cNvSpPr txBox="true"/>
          <p:nvPr/>
        </p:nvSpPr>
        <p:spPr>
          <a:xfrm rot="237304">
            <a:off x="10602824" y="7826169"/>
            <a:ext cx="694075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Astuccio</a:t>
            </a:r>
          </a:p>
        </p:txBody>
      </p:sp>
      <p:sp>
        <p:nvSpPr>
          <p:cNvPr name="TextBox 21" id="21"/>
          <p:cNvSpPr txBox="true"/>
          <p:nvPr/>
        </p:nvSpPr>
        <p:spPr>
          <a:xfrm rot="142382">
            <a:off x="12342097" y="4318470"/>
            <a:ext cx="902767" cy="306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5"/>
              </a:lnSpc>
            </a:pPr>
            <a:r>
              <a:rPr lang="en-US" sz="1670" spc="-16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In [2]: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74675" y="1788220"/>
            <a:ext cx="902767" cy="306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5"/>
              </a:lnSpc>
            </a:pPr>
            <a:r>
              <a:rPr lang="en-US" sz="1670" spc="-16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In [1]:</a:t>
            </a:r>
          </a:p>
        </p:txBody>
      </p:sp>
      <p:sp>
        <p:nvSpPr>
          <p:cNvPr name="TextBox 23" id="23"/>
          <p:cNvSpPr txBox="true"/>
          <p:nvPr/>
        </p:nvSpPr>
        <p:spPr>
          <a:xfrm rot="142382">
            <a:off x="15370715" y="6350178"/>
            <a:ext cx="698520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quantità</a:t>
            </a:r>
          </a:p>
        </p:txBody>
      </p:sp>
      <p:sp>
        <p:nvSpPr>
          <p:cNvPr name="TextBox 24" id="24"/>
          <p:cNvSpPr txBox="true"/>
          <p:nvPr/>
        </p:nvSpPr>
        <p:spPr>
          <a:xfrm rot="142382">
            <a:off x="10682201" y="6109204"/>
            <a:ext cx="741278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prodotto</a:t>
            </a:r>
          </a:p>
        </p:txBody>
      </p:sp>
      <p:sp>
        <p:nvSpPr>
          <p:cNvPr name="TextBox 25" id="25"/>
          <p:cNvSpPr txBox="true"/>
          <p:nvPr/>
        </p:nvSpPr>
        <p:spPr>
          <a:xfrm rot="142382">
            <a:off x="14221217" y="7615288"/>
            <a:ext cx="455310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29.90</a:t>
            </a:r>
          </a:p>
        </p:txBody>
      </p:sp>
      <p:sp>
        <p:nvSpPr>
          <p:cNvPr name="TextBox 26" id="26"/>
          <p:cNvSpPr txBox="true"/>
          <p:nvPr/>
        </p:nvSpPr>
        <p:spPr>
          <a:xfrm rot="142382">
            <a:off x="10631400" y="7389376"/>
            <a:ext cx="463577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Zaino</a:t>
            </a:r>
          </a:p>
        </p:txBody>
      </p:sp>
      <p:sp>
        <p:nvSpPr>
          <p:cNvPr name="TextBox 27" id="27"/>
          <p:cNvSpPr txBox="true"/>
          <p:nvPr/>
        </p:nvSpPr>
        <p:spPr>
          <a:xfrm rot="142382">
            <a:off x="10684341" y="6545969"/>
            <a:ext cx="527314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Penna</a:t>
            </a:r>
          </a:p>
        </p:txBody>
      </p:sp>
      <p:sp>
        <p:nvSpPr>
          <p:cNvPr name="TextBox 28" id="28"/>
          <p:cNvSpPr txBox="true"/>
          <p:nvPr/>
        </p:nvSpPr>
        <p:spPr>
          <a:xfrm rot="142382">
            <a:off x="14382975" y="7208646"/>
            <a:ext cx="352994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2.50</a:t>
            </a:r>
          </a:p>
        </p:txBody>
      </p:sp>
      <p:sp>
        <p:nvSpPr>
          <p:cNvPr name="TextBox 29" id="29"/>
          <p:cNvSpPr txBox="true"/>
          <p:nvPr/>
        </p:nvSpPr>
        <p:spPr>
          <a:xfrm rot="142382">
            <a:off x="14329396" y="8067114"/>
            <a:ext cx="352994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4.20</a:t>
            </a:r>
          </a:p>
        </p:txBody>
      </p:sp>
      <p:sp>
        <p:nvSpPr>
          <p:cNvPr name="TextBox 30" id="30"/>
          <p:cNvSpPr txBox="true"/>
          <p:nvPr/>
        </p:nvSpPr>
        <p:spPr>
          <a:xfrm rot="142382">
            <a:off x="14409764" y="6756821"/>
            <a:ext cx="352994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1.20</a:t>
            </a:r>
          </a:p>
        </p:txBody>
      </p:sp>
      <p:sp>
        <p:nvSpPr>
          <p:cNvPr name="TextBox 31" id="31"/>
          <p:cNvSpPr txBox="true"/>
          <p:nvPr/>
        </p:nvSpPr>
        <p:spPr>
          <a:xfrm rot="142382">
            <a:off x="9882872" y="7780958"/>
            <a:ext cx="306948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104</a:t>
            </a:r>
          </a:p>
        </p:txBody>
      </p:sp>
      <p:sp>
        <p:nvSpPr>
          <p:cNvPr name="TextBox 32" id="32"/>
          <p:cNvSpPr txBox="true"/>
          <p:nvPr/>
        </p:nvSpPr>
        <p:spPr>
          <a:xfrm rot="142382">
            <a:off x="9909662" y="6922490"/>
            <a:ext cx="306948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192</a:t>
            </a:r>
          </a:p>
        </p:txBody>
      </p:sp>
      <p:sp>
        <p:nvSpPr>
          <p:cNvPr name="TextBox 33" id="33"/>
          <p:cNvSpPr txBox="true"/>
          <p:nvPr/>
        </p:nvSpPr>
        <p:spPr>
          <a:xfrm rot="142382">
            <a:off x="9936451" y="6500786"/>
            <a:ext cx="306948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181</a:t>
            </a:r>
          </a:p>
        </p:txBody>
      </p:sp>
      <p:sp>
        <p:nvSpPr>
          <p:cNvPr name="TextBox 34" id="34"/>
          <p:cNvSpPr txBox="true"/>
          <p:nvPr/>
        </p:nvSpPr>
        <p:spPr>
          <a:xfrm rot="142382">
            <a:off x="9882872" y="7359254"/>
            <a:ext cx="306948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103</a:t>
            </a:r>
          </a:p>
        </p:txBody>
      </p:sp>
      <p:sp>
        <p:nvSpPr>
          <p:cNvPr name="TextBox 35" id="35"/>
          <p:cNvSpPr txBox="true"/>
          <p:nvPr/>
        </p:nvSpPr>
        <p:spPr>
          <a:xfrm rot="142382">
            <a:off x="9856083" y="8202661"/>
            <a:ext cx="306948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105</a:t>
            </a:r>
          </a:p>
        </p:txBody>
      </p:sp>
      <p:sp>
        <p:nvSpPr>
          <p:cNvPr name="TextBox 36" id="36"/>
          <p:cNvSpPr txBox="true"/>
          <p:nvPr/>
        </p:nvSpPr>
        <p:spPr>
          <a:xfrm rot="142382">
            <a:off x="15911435" y="6817064"/>
            <a:ext cx="204632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10</a:t>
            </a:r>
          </a:p>
        </p:txBody>
      </p:sp>
      <p:sp>
        <p:nvSpPr>
          <p:cNvPr name="TextBox 37" id="37"/>
          <p:cNvSpPr txBox="true"/>
          <p:nvPr/>
        </p:nvSpPr>
        <p:spPr>
          <a:xfrm rot="142382">
            <a:off x="9937982" y="6048961"/>
            <a:ext cx="153784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id</a:t>
            </a:r>
          </a:p>
        </p:txBody>
      </p:sp>
      <p:sp>
        <p:nvSpPr>
          <p:cNvPr name="TextBox 38" id="38"/>
          <p:cNvSpPr txBox="true"/>
          <p:nvPr/>
        </p:nvSpPr>
        <p:spPr>
          <a:xfrm rot="142382">
            <a:off x="15966036" y="7268889"/>
            <a:ext cx="102316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5</a:t>
            </a:r>
          </a:p>
        </p:txBody>
      </p:sp>
      <p:sp>
        <p:nvSpPr>
          <p:cNvPr name="TextBox 39" id="39"/>
          <p:cNvSpPr txBox="true"/>
          <p:nvPr/>
        </p:nvSpPr>
        <p:spPr>
          <a:xfrm rot="142382">
            <a:off x="15966036" y="7705653"/>
            <a:ext cx="102316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2</a:t>
            </a:r>
          </a:p>
        </p:txBody>
      </p:sp>
      <p:sp>
        <p:nvSpPr>
          <p:cNvPr name="TextBox 40" id="40"/>
          <p:cNvSpPr txBox="true"/>
          <p:nvPr/>
        </p:nvSpPr>
        <p:spPr>
          <a:xfrm rot="142382">
            <a:off x="9402716" y="8157479"/>
            <a:ext cx="102316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4</a:t>
            </a:r>
          </a:p>
        </p:txBody>
      </p:sp>
      <p:sp>
        <p:nvSpPr>
          <p:cNvPr name="TextBox 41" id="41"/>
          <p:cNvSpPr txBox="true"/>
          <p:nvPr/>
        </p:nvSpPr>
        <p:spPr>
          <a:xfrm rot="142382">
            <a:off x="9483083" y="6892368"/>
            <a:ext cx="102316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1</a:t>
            </a:r>
          </a:p>
        </p:txBody>
      </p:sp>
      <p:sp>
        <p:nvSpPr>
          <p:cNvPr name="TextBox 42" id="42"/>
          <p:cNvSpPr txBox="true"/>
          <p:nvPr/>
        </p:nvSpPr>
        <p:spPr>
          <a:xfrm rot="142382">
            <a:off x="9483083" y="6470665"/>
            <a:ext cx="102316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0</a:t>
            </a:r>
          </a:p>
        </p:txBody>
      </p:sp>
      <p:sp>
        <p:nvSpPr>
          <p:cNvPr name="TextBox 43" id="43"/>
          <p:cNvSpPr txBox="true"/>
          <p:nvPr/>
        </p:nvSpPr>
        <p:spPr>
          <a:xfrm rot="142382">
            <a:off x="9429505" y="7750836"/>
            <a:ext cx="102316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3</a:t>
            </a:r>
          </a:p>
        </p:txBody>
      </p:sp>
      <p:sp>
        <p:nvSpPr>
          <p:cNvPr name="TextBox 44" id="44"/>
          <p:cNvSpPr txBox="true"/>
          <p:nvPr/>
        </p:nvSpPr>
        <p:spPr>
          <a:xfrm rot="142382">
            <a:off x="9456294" y="7314072"/>
            <a:ext cx="102316" cy="23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392" spc="-13">
                <a:solidFill>
                  <a:srgbClr val="FFFFFF">
                    <a:alpha val="94902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42950" y="933450"/>
            <a:ext cx="7524750" cy="68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66"/>
              </a:lnSpc>
              <a:spcBef>
                <a:spcPct val="0"/>
              </a:spcBef>
            </a:pPr>
            <a:r>
              <a:rPr lang="en-US" sz="4702" strike="noStrike" u="none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Task 2 - Lettura e ispezione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42950" y="1786255"/>
            <a:ext cx="7524750" cy="2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Ho caricato i quattro file con le funzioni di lettura di pandas.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42950" y="2876169"/>
            <a:ext cx="7524750" cy="2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Ho controllato dimensioni, tipi, intestazioni e valori mancanti.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42950" y="3966083"/>
            <a:ext cx="7524750" cy="2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Ho convertito prezzo unitario e quantità in array numerici.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51818" y="0"/>
            <a:ext cx="8936182" cy="10287000"/>
          </a:xfrm>
          <a:custGeom>
            <a:avLst/>
            <a:gdLst/>
            <a:ahLst/>
            <a:cxnLst/>
            <a:rect r="r" b="b" t="t" l="l"/>
            <a:pathLst>
              <a:path h="10287000" w="8936182">
                <a:moveTo>
                  <a:pt x="0" y="0"/>
                </a:moveTo>
                <a:lnTo>
                  <a:pt x="8936182" y="0"/>
                </a:lnTo>
                <a:lnTo>
                  <a:pt x="89361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42574" y="5356674"/>
            <a:ext cx="3500096" cy="863627"/>
          </a:xfrm>
          <a:custGeom>
            <a:avLst/>
            <a:gdLst/>
            <a:ahLst/>
            <a:cxnLst/>
            <a:rect r="r" b="b" t="t" l="l"/>
            <a:pathLst>
              <a:path h="863627" w="3500096">
                <a:moveTo>
                  <a:pt x="0" y="0"/>
                </a:moveTo>
                <a:lnTo>
                  <a:pt x="3500096" y="0"/>
                </a:lnTo>
                <a:lnTo>
                  <a:pt x="350009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-326953">
            <a:off x="15475172" y="5954876"/>
            <a:ext cx="620227" cy="2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 b="true">
                <a:solidFill>
                  <a:srgbClr val="FFFFFF">
                    <a:alpha val="89804"/>
                  </a:srgbClr>
                </a:solidFill>
                <a:latin typeface="TT Bluescreens Medium"/>
                <a:ea typeface="TT Bluescreens Medium"/>
                <a:cs typeface="TT Bluescreens Medium"/>
                <a:sym typeface="TT Bluescreens Medium"/>
              </a:rPr>
              <a:t>Quantity</a:t>
            </a:r>
          </a:p>
        </p:txBody>
      </p:sp>
      <p:sp>
        <p:nvSpPr>
          <p:cNvPr name="TextBox 6" id="6"/>
          <p:cNvSpPr txBox="true"/>
          <p:nvPr/>
        </p:nvSpPr>
        <p:spPr>
          <a:xfrm rot="-326953">
            <a:off x="12022466" y="6828405"/>
            <a:ext cx="312007" cy="2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 b="true">
                <a:solidFill>
                  <a:srgbClr val="9D40F1">
                    <a:alpha val="89804"/>
                  </a:srgbClr>
                </a:solidFill>
                <a:latin typeface="TT Bluescreens Medium"/>
                <a:ea typeface="TT Bluescreens Medium"/>
                <a:cs typeface="TT Bluescreens Medium"/>
                <a:sym typeface="TT Bluescreens Medium"/>
              </a:rPr>
              <a:t>NaN</a:t>
            </a:r>
          </a:p>
        </p:txBody>
      </p:sp>
      <p:sp>
        <p:nvSpPr>
          <p:cNvPr name="TextBox 7" id="7"/>
          <p:cNvSpPr txBox="true"/>
          <p:nvPr/>
        </p:nvSpPr>
        <p:spPr>
          <a:xfrm rot="-326953">
            <a:off x="12076044" y="7897724"/>
            <a:ext cx="312007" cy="2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 b="true">
                <a:solidFill>
                  <a:srgbClr val="9D40F1">
                    <a:alpha val="89804"/>
                  </a:srgbClr>
                </a:solidFill>
                <a:latin typeface="TT Bluescreens Medium"/>
                <a:ea typeface="TT Bluescreens Medium"/>
                <a:cs typeface="TT Bluescreens Medium"/>
                <a:sym typeface="TT Bluescreens Medium"/>
              </a:rPr>
              <a:t>NaN</a:t>
            </a:r>
          </a:p>
        </p:txBody>
      </p:sp>
      <p:sp>
        <p:nvSpPr>
          <p:cNvPr name="TextBox 8" id="8"/>
          <p:cNvSpPr txBox="true"/>
          <p:nvPr/>
        </p:nvSpPr>
        <p:spPr>
          <a:xfrm rot="-326953">
            <a:off x="16816611" y="6587431"/>
            <a:ext cx="421691" cy="2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>
                <a:solidFill>
                  <a:srgbClr val="FFFFFF">
                    <a:alpha val="89804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210.0</a:t>
            </a:r>
          </a:p>
        </p:txBody>
      </p:sp>
      <p:sp>
        <p:nvSpPr>
          <p:cNvPr name="TextBox 9" id="9"/>
          <p:cNvSpPr txBox="true"/>
          <p:nvPr/>
        </p:nvSpPr>
        <p:spPr>
          <a:xfrm rot="-326953">
            <a:off x="10623720" y="7280230"/>
            <a:ext cx="883468" cy="2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>
                <a:solidFill>
                  <a:srgbClr val="FFFFFF">
                    <a:alpha val="89804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2023-01-07</a:t>
            </a:r>
          </a:p>
        </p:txBody>
      </p:sp>
      <p:sp>
        <p:nvSpPr>
          <p:cNvPr name="TextBox 10" id="10"/>
          <p:cNvSpPr txBox="true"/>
          <p:nvPr/>
        </p:nvSpPr>
        <p:spPr>
          <a:xfrm rot="-326953">
            <a:off x="10677298" y="8003150"/>
            <a:ext cx="883468" cy="2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>
                <a:solidFill>
                  <a:srgbClr val="FFFFFF">
                    <a:alpha val="89804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2023-01-09</a:t>
            </a:r>
          </a:p>
        </p:txBody>
      </p:sp>
      <p:sp>
        <p:nvSpPr>
          <p:cNvPr name="TextBox 11" id="11"/>
          <p:cNvSpPr txBox="true"/>
          <p:nvPr/>
        </p:nvSpPr>
        <p:spPr>
          <a:xfrm rot="-326953">
            <a:off x="10623720" y="7626629"/>
            <a:ext cx="883468" cy="2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>
                <a:solidFill>
                  <a:srgbClr val="FFFFFF">
                    <a:alpha val="89804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2023-01-08</a:t>
            </a:r>
          </a:p>
        </p:txBody>
      </p:sp>
      <p:sp>
        <p:nvSpPr>
          <p:cNvPr name="TextBox 12" id="12"/>
          <p:cNvSpPr txBox="true"/>
          <p:nvPr/>
        </p:nvSpPr>
        <p:spPr>
          <a:xfrm rot="-326953">
            <a:off x="12793550" y="6024614"/>
            <a:ext cx="937201" cy="21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6"/>
              </a:lnSpc>
            </a:pPr>
            <a:r>
              <a:rPr lang="en-US" sz="1177" b="true">
                <a:solidFill>
                  <a:srgbClr val="FFFFFF">
                    <a:alpha val="89804"/>
                  </a:srgbClr>
                </a:solidFill>
                <a:latin typeface="TT Bluescreens Medium"/>
                <a:ea typeface="TT Bluescreens Medium"/>
                <a:cs typeface="TT Bluescreens Medium"/>
                <a:sym typeface="TT Bluescreens Medium"/>
              </a:rPr>
              <a:t>SalesAmount</a:t>
            </a:r>
          </a:p>
        </p:txBody>
      </p:sp>
      <p:sp>
        <p:nvSpPr>
          <p:cNvPr name="TextBox 13" id="13"/>
          <p:cNvSpPr txBox="true"/>
          <p:nvPr/>
        </p:nvSpPr>
        <p:spPr>
          <a:xfrm rot="-326953">
            <a:off x="10490622" y="5764643"/>
            <a:ext cx="753512" cy="32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775" b="true">
                <a:solidFill>
                  <a:srgbClr val="FFFFFF">
                    <a:alpha val="89804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PRIMA</a:t>
            </a:r>
          </a:p>
        </p:txBody>
      </p:sp>
      <p:sp>
        <p:nvSpPr>
          <p:cNvPr name="TextBox 14" id="14"/>
          <p:cNvSpPr txBox="true"/>
          <p:nvPr/>
        </p:nvSpPr>
        <p:spPr>
          <a:xfrm rot="-326953">
            <a:off x="16436863" y="5874006"/>
            <a:ext cx="937201" cy="21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6"/>
              </a:lnSpc>
            </a:pPr>
            <a:r>
              <a:rPr lang="en-US" sz="1177" b="true">
                <a:solidFill>
                  <a:srgbClr val="FFFFFF">
                    <a:alpha val="89804"/>
                  </a:srgbClr>
                </a:solidFill>
                <a:latin typeface="TT Bluescreens Medium"/>
                <a:ea typeface="TT Bluescreens Medium"/>
                <a:cs typeface="TT Bluescreens Medium"/>
                <a:sym typeface="TT Bluescreens Medium"/>
              </a:rPr>
              <a:t>SalesAmount</a:t>
            </a:r>
          </a:p>
        </p:txBody>
      </p:sp>
      <p:sp>
        <p:nvSpPr>
          <p:cNvPr name="TextBox 15" id="15"/>
          <p:cNvSpPr txBox="true"/>
          <p:nvPr/>
        </p:nvSpPr>
        <p:spPr>
          <a:xfrm rot="-326953">
            <a:off x="10570142" y="6933831"/>
            <a:ext cx="883468" cy="2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>
                <a:solidFill>
                  <a:srgbClr val="FFFFFF">
                    <a:alpha val="89804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2023-01-06</a:t>
            </a:r>
          </a:p>
        </p:txBody>
      </p:sp>
      <p:sp>
        <p:nvSpPr>
          <p:cNvPr name="TextBox 16" id="16"/>
          <p:cNvSpPr txBox="true"/>
          <p:nvPr/>
        </p:nvSpPr>
        <p:spPr>
          <a:xfrm rot="-326953">
            <a:off x="10570142" y="6587431"/>
            <a:ext cx="883468" cy="2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>
                <a:solidFill>
                  <a:srgbClr val="FFFFFF">
                    <a:alpha val="89804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2023-01-05</a:t>
            </a:r>
          </a:p>
        </p:txBody>
      </p:sp>
      <p:sp>
        <p:nvSpPr>
          <p:cNvPr name="TextBox 17" id="17"/>
          <p:cNvSpPr txBox="true"/>
          <p:nvPr/>
        </p:nvSpPr>
        <p:spPr>
          <a:xfrm rot="-326953">
            <a:off x="14374188" y="6768161"/>
            <a:ext cx="883468" cy="2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>
                <a:solidFill>
                  <a:srgbClr val="FFFFFF">
                    <a:alpha val="89804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2023-01-08</a:t>
            </a:r>
          </a:p>
        </p:txBody>
      </p:sp>
      <p:sp>
        <p:nvSpPr>
          <p:cNvPr name="TextBox 18" id="18"/>
          <p:cNvSpPr txBox="true"/>
          <p:nvPr/>
        </p:nvSpPr>
        <p:spPr>
          <a:xfrm rot="-326953">
            <a:off x="14295788" y="5598974"/>
            <a:ext cx="641616" cy="32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775" b="true">
                <a:solidFill>
                  <a:srgbClr val="000000">
                    <a:alpha val="89804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DOPO</a:t>
            </a:r>
          </a:p>
        </p:txBody>
      </p:sp>
      <p:sp>
        <p:nvSpPr>
          <p:cNvPr name="TextBox 19" id="19"/>
          <p:cNvSpPr txBox="true"/>
          <p:nvPr/>
        </p:nvSpPr>
        <p:spPr>
          <a:xfrm rot="-326953">
            <a:off x="11778282" y="6105484"/>
            <a:ext cx="620227" cy="2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 b="true">
                <a:solidFill>
                  <a:srgbClr val="FFFFFF">
                    <a:alpha val="89804"/>
                  </a:srgbClr>
                </a:solidFill>
                <a:latin typeface="TT Bluescreens Medium"/>
                <a:ea typeface="TT Bluescreens Medium"/>
                <a:cs typeface="TT Bluescreens Medium"/>
                <a:sym typeface="TT Bluescreens Medium"/>
              </a:rPr>
              <a:t>Quantity</a:t>
            </a:r>
          </a:p>
        </p:txBody>
      </p:sp>
      <p:sp>
        <p:nvSpPr>
          <p:cNvPr name="TextBox 20" id="20"/>
          <p:cNvSpPr txBox="true"/>
          <p:nvPr/>
        </p:nvSpPr>
        <p:spPr>
          <a:xfrm rot="-326953">
            <a:off x="13280455" y="7777238"/>
            <a:ext cx="421691" cy="2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>
                <a:solidFill>
                  <a:srgbClr val="FFFFFF">
                    <a:alpha val="89804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310.0</a:t>
            </a:r>
          </a:p>
        </p:txBody>
      </p:sp>
      <p:sp>
        <p:nvSpPr>
          <p:cNvPr name="TextBox 21" id="21"/>
          <p:cNvSpPr txBox="true"/>
          <p:nvPr/>
        </p:nvSpPr>
        <p:spPr>
          <a:xfrm rot="-326953">
            <a:off x="13280455" y="7445899"/>
            <a:ext cx="421691" cy="2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>
                <a:solidFill>
                  <a:srgbClr val="FFFFFF">
                    <a:alpha val="89804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210.0</a:t>
            </a:r>
          </a:p>
        </p:txBody>
      </p:sp>
      <p:sp>
        <p:nvSpPr>
          <p:cNvPr name="TextBox 22" id="22"/>
          <p:cNvSpPr txBox="true"/>
          <p:nvPr/>
        </p:nvSpPr>
        <p:spPr>
          <a:xfrm rot="-326953">
            <a:off x="13146509" y="6406701"/>
            <a:ext cx="421691" cy="2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>
                <a:solidFill>
                  <a:srgbClr val="FFFFFF">
                    <a:alpha val="89804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320.5</a:t>
            </a:r>
          </a:p>
        </p:txBody>
      </p:sp>
      <p:sp>
        <p:nvSpPr>
          <p:cNvPr name="TextBox 23" id="23"/>
          <p:cNvSpPr txBox="true"/>
          <p:nvPr/>
        </p:nvSpPr>
        <p:spPr>
          <a:xfrm rot="-326953">
            <a:off x="10789891" y="6195849"/>
            <a:ext cx="339783" cy="2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 b="true">
                <a:solidFill>
                  <a:srgbClr val="FFFFFF">
                    <a:alpha val="89804"/>
                  </a:srgbClr>
                </a:solidFill>
                <a:latin typeface="TT Bluescreens Medium"/>
                <a:ea typeface="TT Bluescreens Medium"/>
                <a:cs typeface="TT Bluescreens Medium"/>
                <a:sym typeface="TT Bluescreens Medium"/>
              </a:rPr>
              <a:t>Date</a:t>
            </a:r>
          </a:p>
        </p:txBody>
      </p:sp>
      <p:sp>
        <p:nvSpPr>
          <p:cNvPr name="TextBox 24" id="24"/>
          <p:cNvSpPr txBox="true"/>
          <p:nvPr/>
        </p:nvSpPr>
        <p:spPr>
          <a:xfrm rot="-326953">
            <a:off x="14593938" y="6015119"/>
            <a:ext cx="339783" cy="2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 b="true">
                <a:solidFill>
                  <a:srgbClr val="FFFFFF">
                    <a:alpha val="89804"/>
                  </a:srgbClr>
                </a:solidFill>
                <a:latin typeface="TT Bluescreens Medium"/>
                <a:ea typeface="TT Bluescreens Medium"/>
                <a:cs typeface="TT Bluescreens Medium"/>
                <a:sym typeface="TT Bluescreens Medium"/>
              </a:rPr>
              <a:t>Date</a:t>
            </a:r>
          </a:p>
        </p:txBody>
      </p:sp>
      <p:sp>
        <p:nvSpPr>
          <p:cNvPr name="TextBox 25" id="25"/>
          <p:cNvSpPr txBox="true"/>
          <p:nvPr/>
        </p:nvSpPr>
        <p:spPr>
          <a:xfrm rot="-326953">
            <a:off x="13281402" y="6798283"/>
            <a:ext cx="327000" cy="2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>
                <a:solidFill>
                  <a:srgbClr val="FFFFFF">
                    <a:alpha val="89804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98.0</a:t>
            </a:r>
          </a:p>
        </p:txBody>
      </p:sp>
      <p:sp>
        <p:nvSpPr>
          <p:cNvPr name="TextBox 26" id="26"/>
          <p:cNvSpPr txBox="true"/>
          <p:nvPr/>
        </p:nvSpPr>
        <p:spPr>
          <a:xfrm rot="-326953">
            <a:off x="12105006" y="6482005"/>
            <a:ext cx="94691" cy="2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>
                <a:solidFill>
                  <a:srgbClr val="FFFFFF">
                    <a:alpha val="89804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-326953">
            <a:off x="15801897" y="6331397"/>
            <a:ext cx="94691" cy="2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>
                <a:solidFill>
                  <a:srgbClr val="FFFFFF">
                    <a:alpha val="89804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5</a:t>
            </a:r>
          </a:p>
        </p:txBody>
      </p:sp>
      <p:sp>
        <p:nvSpPr>
          <p:cNvPr name="TextBox 28" id="28"/>
          <p:cNvSpPr txBox="true"/>
          <p:nvPr/>
        </p:nvSpPr>
        <p:spPr>
          <a:xfrm rot="-326953">
            <a:off x="15828686" y="6677796"/>
            <a:ext cx="94691" cy="2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>
                <a:solidFill>
                  <a:srgbClr val="FFFFFF">
                    <a:alpha val="89804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4</a:t>
            </a:r>
          </a:p>
        </p:txBody>
      </p:sp>
      <p:sp>
        <p:nvSpPr>
          <p:cNvPr name="TextBox 29" id="29"/>
          <p:cNvSpPr txBox="true"/>
          <p:nvPr/>
        </p:nvSpPr>
        <p:spPr>
          <a:xfrm rot="-326953">
            <a:off x="12185373" y="7551325"/>
            <a:ext cx="94691" cy="2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12">
                <a:solidFill>
                  <a:srgbClr val="FFFFFF">
                    <a:alpha val="89804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2950" y="885825"/>
            <a:ext cx="8191500" cy="665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49"/>
              </a:lnSpc>
              <a:spcBef>
                <a:spcPct val="0"/>
              </a:spcBef>
            </a:pPr>
            <a:r>
              <a:rPr lang="en-US" sz="4597" strike="noStrike" u="none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Task 3A : pulizia e ordinamento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42950" y="1726565"/>
            <a:ext cx="8191500" cy="2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Ho misurato i valori mancanti per colonna prima della pulizia.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42950" y="2816530"/>
            <a:ext cx="8191500" cy="2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Ho imputato Quantity con la mediana e rimosso le righe incomplete.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42950" y="3668370"/>
            <a:ext cx="8191500" cy="2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Ho filtrato le vendite sopra il novantesimo percentile.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89330" y="4066699"/>
            <a:ext cx="3281340" cy="1508614"/>
          </a:xfrm>
          <a:custGeom>
            <a:avLst/>
            <a:gdLst/>
            <a:ahLst/>
            <a:cxnLst/>
            <a:rect r="r" b="b" t="t" l="l"/>
            <a:pathLst>
              <a:path h="1508614" w="3281340">
                <a:moveTo>
                  <a:pt x="0" y="0"/>
                </a:moveTo>
                <a:lnTo>
                  <a:pt x="3281340" y="0"/>
                </a:lnTo>
                <a:lnTo>
                  <a:pt x="328134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40976" y="4066699"/>
            <a:ext cx="229694" cy="863627"/>
          </a:xfrm>
          <a:custGeom>
            <a:avLst/>
            <a:gdLst/>
            <a:ahLst/>
            <a:cxnLst/>
            <a:rect r="r" b="b" t="t" l="l"/>
            <a:pathLst>
              <a:path h="863627" w="229694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40976" y="4066699"/>
            <a:ext cx="3270402" cy="1508614"/>
          </a:xfrm>
          <a:custGeom>
            <a:avLst/>
            <a:gdLst/>
            <a:ahLst/>
            <a:cxnLst/>
            <a:rect r="r" b="b" t="t" l="l"/>
            <a:pathLst>
              <a:path h="1508614" w="3270402">
                <a:moveTo>
                  <a:pt x="0" y="0"/>
                </a:moveTo>
                <a:lnTo>
                  <a:pt x="3270402" y="0"/>
                </a:lnTo>
                <a:lnTo>
                  <a:pt x="327040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487732" y="2142670"/>
            <a:ext cx="2843828" cy="644987"/>
          </a:xfrm>
          <a:custGeom>
            <a:avLst/>
            <a:gdLst/>
            <a:ahLst/>
            <a:cxnLst/>
            <a:rect r="r" b="b" t="t" l="l"/>
            <a:pathLst>
              <a:path h="644987" w="2843828">
                <a:moveTo>
                  <a:pt x="0" y="0"/>
                </a:moveTo>
                <a:lnTo>
                  <a:pt x="2843828" y="0"/>
                </a:lnTo>
                <a:lnTo>
                  <a:pt x="284382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87732" y="2569017"/>
            <a:ext cx="2843828" cy="1727254"/>
          </a:xfrm>
          <a:custGeom>
            <a:avLst/>
            <a:gdLst/>
            <a:ahLst/>
            <a:cxnLst/>
            <a:rect r="r" b="b" t="t" l="l"/>
            <a:pathLst>
              <a:path h="1727254" w="2843828">
                <a:moveTo>
                  <a:pt x="0" y="0"/>
                </a:moveTo>
                <a:lnTo>
                  <a:pt x="2843828" y="0"/>
                </a:lnTo>
                <a:lnTo>
                  <a:pt x="284382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28440" y="2142670"/>
            <a:ext cx="3062584" cy="644987"/>
          </a:xfrm>
          <a:custGeom>
            <a:avLst/>
            <a:gdLst/>
            <a:ahLst/>
            <a:cxnLst/>
            <a:rect r="r" b="b" t="t" l="l"/>
            <a:pathLst>
              <a:path h="644987" w="3062584">
                <a:moveTo>
                  <a:pt x="0" y="0"/>
                </a:moveTo>
                <a:lnTo>
                  <a:pt x="3062584" y="0"/>
                </a:lnTo>
                <a:lnTo>
                  <a:pt x="306258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528440" y="2569017"/>
            <a:ext cx="3062584" cy="1727254"/>
          </a:xfrm>
          <a:custGeom>
            <a:avLst/>
            <a:gdLst/>
            <a:ahLst/>
            <a:cxnLst/>
            <a:rect r="r" b="b" t="t" l="l"/>
            <a:pathLst>
              <a:path h="1727254" w="3062584">
                <a:moveTo>
                  <a:pt x="0" y="0"/>
                </a:moveTo>
                <a:lnTo>
                  <a:pt x="3062584" y="0"/>
                </a:lnTo>
                <a:lnTo>
                  <a:pt x="306258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830827" y="3249331"/>
            <a:ext cx="993828" cy="32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775">
                <a:solidFill>
                  <a:srgbClr val="F6F6F6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Categoria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580086" y="2142670"/>
            <a:ext cx="3062584" cy="644987"/>
          </a:xfrm>
          <a:custGeom>
            <a:avLst/>
            <a:gdLst/>
            <a:ahLst/>
            <a:cxnLst/>
            <a:rect r="r" b="b" t="t" l="l"/>
            <a:pathLst>
              <a:path h="644987" w="3062584">
                <a:moveTo>
                  <a:pt x="0" y="0"/>
                </a:moveTo>
                <a:lnTo>
                  <a:pt x="3062584" y="0"/>
                </a:lnTo>
                <a:lnTo>
                  <a:pt x="306258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580086" y="2569017"/>
            <a:ext cx="3062584" cy="1727254"/>
          </a:xfrm>
          <a:custGeom>
            <a:avLst/>
            <a:gdLst/>
            <a:ahLst/>
            <a:cxnLst/>
            <a:rect r="r" b="b" t="t" l="l"/>
            <a:pathLst>
              <a:path h="1727254" w="3062584">
                <a:moveTo>
                  <a:pt x="0" y="0"/>
                </a:moveTo>
                <a:lnTo>
                  <a:pt x="3062584" y="0"/>
                </a:lnTo>
                <a:lnTo>
                  <a:pt x="306258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487732" y="5564382"/>
            <a:ext cx="9154938" cy="655919"/>
          </a:xfrm>
          <a:custGeom>
            <a:avLst/>
            <a:gdLst/>
            <a:ahLst/>
            <a:cxnLst/>
            <a:rect r="r" b="b" t="t" l="l"/>
            <a:pathLst>
              <a:path h="655919" w="9154938">
                <a:moveTo>
                  <a:pt x="0" y="0"/>
                </a:moveTo>
                <a:lnTo>
                  <a:pt x="9154938" y="0"/>
                </a:lnTo>
                <a:lnTo>
                  <a:pt x="915493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487732" y="5990729"/>
            <a:ext cx="1968804" cy="1945894"/>
          </a:xfrm>
          <a:custGeom>
            <a:avLst/>
            <a:gdLst/>
            <a:ahLst/>
            <a:cxnLst/>
            <a:rect r="r" b="b" t="t" l="l"/>
            <a:pathLst>
              <a:path h="1945894" w="1968804">
                <a:moveTo>
                  <a:pt x="0" y="0"/>
                </a:moveTo>
                <a:lnTo>
                  <a:pt x="1968804" y="0"/>
                </a:lnTo>
                <a:lnTo>
                  <a:pt x="196880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26842" y="5990729"/>
            <a:ext cx="1968804" cy="1945894"/>
          </a:xfrm>
          <a:custGeom>
            <a:avLst/>
            <a:gdLst/>
            <a:ahLst/>
            <a:cxnLst/>
            <a:rect r="r" b="b" t="t" l="l"/>
            <a:pathLst>
              <a:path h="1945894" w="1968804">
                <a:moveTo>
                  <a:pt x="0" y="0"/>
                </a:moveTo>
                <a:lnTo>
                  <a:pt x="1968804" y="0"/>
                </a:lnTo>
                <a:lnTo>
                  <a:pt x="196880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965952" y="5990729"/>
            <a:ext cx="1968804" cy="1945894"/>
          </a:xfrm>
          <a:custGeom>
            <a:avLst/>
            <a:gdLst/>
            <a:ahLst/>
            <a:cxnLst/>
            <a:rect r="r" b="b" t="t" l="l"/>
            <a:pathLst>
              <a:path h="1945894" w="1968804">
                <a:moveTo>
                  <a:pt x="0" y="0"/>
                </a:moveTo>
                <a:lnTo>
                  <a:pt x="1968804" y="0"/>
                </a:lnTo>
                <a:lnTo>
                  <a:pt x="196880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439462" y="6276560"/>
            <a:ext cx="1051281" cy="32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775">
                <a:solidFill>
                  <a:srgbClr val="F6F6F6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Fatturato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3716000" y="5990729"/>
            <a:ext cx="1968804" cy="1945894"/>
          </a:xfrm>
          <a:custGeom>
            <a:avLst/>
            <a:gdLst/>
            <a:ahLst/>
            <a:cxnLst/>
            <a:rect r="r" b="b" t="t" l="l"/>
            <a:pathLst>
              <a:path h="1945894" w="1968804">
                <a:moveTo>
                  <a:pt x="0" y="0"/>
                </a:moveTo>
                <a:lnTo>
                  <a:pt x="1968804" y="0"/>
                </a:lnTo>
                <a:lnTo>
                  <a:pt x="196880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260942" y="6276560"/>
            <a:ext cx="972874" cy="32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775">
                <a:solidFill>
                  <a:srgbClr val="F6F6F6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Quantità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5455110" y="5990729"/>
            <a:ext cx="2187560" cy="1945894"/>
          </a:xfrm>
          <a:custGeom>
            <a:avLst/>
            <a:gdLst/>
            <a:ahLst/>
            <a:cxnLst/>
            <a:rect r="r" b="b" t="t" l="l"/>
            <a:pathLst>
              <a:path h="1945894" w="2187560">
                <a:moveTo>
                  <a:pt x="0" y="0"/>
                </a:moveTo>
                <a:lnTo>
                  <a:pt x="2187560" y="0"/>
                </a:lnTo>
                <a:lnTo>
                  <a:pt x="2187560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896682" y="6276560"/>
            <a:ext cx="1262731" cy="32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775">
                <a:solidFill>
                  <a:srgbClr val="F6F6F6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Transazioni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487732" y="7707051"/>
            <a:ext cx="1968804" cy="874559"/>
          </a:xfrm>
          <a:custGeom>
            <a:avLst/>
            <a:gdLst/>
            <a:ahLst/>
            <a:cxnLst/>
            <a:rect r="r" b="b" t="t" l="l"/>
            <a:pathLst>
              <a:path h="874559" w="1968804">
                <a:moveTo>
                  <a:pt x="0" y="0"/>
                </a:moveTo>
                <a:lnTo>
                  <a:pt x="1968804" y="0"/>
                </a:lnTo>
                <a:lnTo>
                  <a:pt x="196880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226842" y="7707051"/>
            <a:ext cx="1968804" cy="874559"/>
          </a:xfrm>
          <a:custGeom>
            <a:avLst/>
            <a:gdLst/>
            <a:ahLst/>
            <a:cxnLst/>
            <a:rect r="r" b="b" t="t" l="l"/>
            <a:pathLst>
              <a:path h="874559" w="1968804">
                <a:moveTo>
                  <a:pt x="0" y="0"/>
                </a:moveTo>
                <a:lnTo>
                  <a:pt x="1968804" y="0"/>
                </a:lnTo>
                <a:lnTo>
                  <a:pt x="196880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965952" y="7707051"/>
            <a:ext cx="1968804" cy="874559"/>
          </a:xfrm>
          <a:custGeom>
            <a:avLst/>
            <a:gdLst/>
            <a:ahLst/>
            <a:cxnLst/>
            <a:rect r="r" b="b" t="t" l="l"/>
            <a:pathLst>
              <a:path h="874559" w="1968804">
                <a:moveTo>
                  <a:pt x="0" y="0"/>
                </a:moveTo>
                <a:lnTo>
                  <a:pt x="1968804" y="0"/>
                </a:lnTo>
                <a:lnTo>
                  <a:pt x="196880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2882595" y="7421184"/>
            <a:ext cx="182160" cy="32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775">
                <a:solidFill>
                  <a:srgbClr val="F6F6F6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...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3716000" y="7707051"/>
            <a:ext cx="1968804" cy="874559"/>
          </a:xfrm>
          <a:custGeom>
            <a:avLst/>
            <a:gdLst/>
            <a:ahLst/>
            <a:cxnLst/>
            <a:rect r="r" b="b" t="t" l="l"/>
            <a:pathLst>
              <a:path h="874559" w="1968804">
                <a:moveTo>
                  <a:pt x="0" y="0"/>
                </a:moveTo>
                <a:lnTo>
                  <a:pt x="1968804" y="0"/>
                </a:lnTo>
                <a:lnTo>
                  <a:pt x="196880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5455110" y="7707051"/>
            <a:ext cx="2187560" cy="874559"/>
          </a:xfrm>
          <a:custGeom>
            <a:avLst/>
            <a:gdLst/>
            <a:ahLst/>
            <a:cxnLst/>
            <a:rect r="r" b="b" t="t" l="l"/>
            <a:pathLst>
              <a:path h="874559" w="2187560">
                <a:moveTo>
                  <a:pt x="0" y="0"/>
                </a:moveTo>
                <a:lnTo>
                  <a:pt x="2187560" y="0"/>
                </a:lnTo>
                <a:lnTo>
                  <a:pt x="218756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0" y="5783021"/>
            <a:ext cx="11112804" cy="4503979"/>
          </a:xfrm>
          <a:custGeom>
            <a:avLst/>
            <a:gdLst/>
            <a:ahLst/>
            <a:cxnLst/>
            <a:rect r="r" b="b" t="t" l="l"/>
            <a:pathLst>
              <a:path h="4503979" w="11112804">
                <a:moveTo>
                  <a:pt x="0" y="0"/>
                </a:moveTo>
                <a:lnTo>
                  <a:pt x="11112804" y="0"/>
                </a:lnTo>
                <a:lnTo>
                  <a:pt x="11112804" y="4503979"/>
                </a:lnTo>
                <a:lnTo>
                  <a:pt x="0" y="450397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1331773" y="5642934"/>
            <a:ext cx="3402211" cy="41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2"/>
              </a:lnSpc>
            </a:pPr>
            <a:r>
              <a:rPr lang="en-US" b="true" sz="240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RISULTATI AGGREGATI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40766" y="2254245"/>
            <a:ext cx="2143125" cy="41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2"/>
              </a:lnSpc>
            </a:pPr>
            <a:r>
              <a:rPr lang="en-US" sz="2408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PRODOTTI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865533" y="6276560"/>
            <a:ext cx="1073248" cy="96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63"/>
              </a:lnSpc>
              <a:spcBef>
                <a:spcPct val="0"/>
              </a:spcBef>
            </a:pPr>
            <a:r>
              <a:rPr lang="en-US" sz="1775" strike="noStrike" u="none">
                <a:solidFill>
                  <a:srgbClr val="F6F6F6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Task 3b - Aggregazione e Unione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912282" y="2797506"/>
            <a:ext cx="922630" cy="32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775">
                <a:solidFill>
                  <a:srgbClr val="F6F6F6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RegionID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697219" y="3249331"/>
            <a:ext cx="922630" cy="128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3"/>
              </a:lnSpc>
              <a:spcBef>
                <a:spcPct val="0"/>
              </a:spcBef>
            </a:pPr>
            <a:r>
              <a:rPr lang="en-US" sz="1775" strike="noStrike" u="none">
                <a:solidFill>
                  <a:srgbClr val="F6F6F6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Ho unito vendite, prodotti e regioni usando le chiavi comuni.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706445" y="2254245"/>
            <a:ext cx="2143125" cy="311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12"/>
              </a:lnSpc>
              <a:spcBef>
                <a:spcPct val="0"/>
              </a:spcBef>
            </a:pPr>
            <a:r>
              <a:rPr lang="en-US" b="true" sz="2408" strike="noStrike" u="non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HO VERIFICATO CHE L’UNIONE MANTENESSE LE RIGHE E I DATI CORRETTI.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696219" y="2797506"/>
            <a:ext cx="1022667" cy="128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3"/>
              </a:lnSpc>
              <a:spcBef>
                <a:spcPct val="0"/>
              </a:spcBef>
            </a:pPr>
            <a:r>
              <a:rPr lang="en-US" sz="1775" strike="noStrike" u="none">
                <a:solidFill>
                  <a:srgbClr val="F6F6F6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Ho aggregato fatturato, quantità e transazioni per categoria.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921508" y="2254245"/>
            <a:ext cx="2143125" cy="41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2"/>
              </a:lnSpc>
            </a:pPr>
            <a:r>
              <a:rPr lang="en-US" sz="2408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REGIONI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830539" y="2797506"/>
            <a:ext cx="1022667" cy="32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775">
                <a:solidFill>
                  <a:srgbClr val="F6F6F6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ProductID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780398" y="6276560"/>
            <a:ext cx="511784" cy="32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775">
                <a:solidFill>
                  <a:srgbClr val="F6F6F6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Area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916745" y="3249331"/>
            <a:ext cx="476298" cy="32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775">
                <a:solidFill>
                  <a:srgbClr val="F6F6F6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Area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882595" y="7978435"/>
            <a:ext cx="182160" cy="32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775">
                <a:solidFill>
                  <a:srgbClr val="F6F6F6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...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76300" y="533400"/>
            <a:ext cx="6953250" cy="63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2"/>
              </a:lnSpc>
              <a:spcBef>
                <a:spcPct val="0"/>
              </a:spcBef>
            </a:pPr>
            <a:r>
              <a:rPr lang="en-US" sz="4297" strike="noStrike" u="none">
                <a:solidFill>
                  <a:srgbClr val="FFFFFF"/>
                </a:solidFill>
                <a:latin typeface="TT Bluescreens"/>
                <a:ea typeface="TT Bluescreens"/>
                <a:cs typeface="TT Bluescreens"/>
                <a:sym typeface="TT Bluescreens"/>
              </a:rPr>
              <a:t>Ho separato le vendite del 2025 e controllato i risultati.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78220" y="1497682"/>
            <a:ext cx="14601962" cy="8789318"/>
          </a:xfrm>
          <a:custGeom>
            <a:avLst/>
            <a:gdLst/>
            <a:ahLst/>
            <a:cxnLst/>
            <a:rect r="r" b="b" t="t" l="l"/>
            <a:pathLst>
              <a:path h="8789318" w="14601962">
                <a:moveTo>
                  <a:pt x="0" y="0"/>
                </a:moveTo>
                <a:lnTo>
                  <a:pt x="14601962" y="0"/>
                </a:lnTo>
                <a:lnTo>
                  <a:pt x="14601962" y="8789318"/>
                </a:lnTo>
                <a:lnTo>
                  <a:pt x="0" y="87893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06488" y="2776725"/>
            <a:ext cx="4145426" cy="1727254"/>
          </a:xfrm>
          <a:custGeom>
            <a:avLst/>
            <a:gdLst/>
            <a:ahLst/>
            <a:cxnLst/>
            <a:rect r="r" b="b" t="t" l="l"/>
            <a:pathLst>
              <a:path h="1727254" w="4145426">
                <a:moveTo>
                  <a:pt x="0" y="0"/>
                </a:moveTo>
                <a:lnTo>
                  <a:pt x="4145426" y="0"/>
                </a:lnTo>
                <a:lnTo>
                  <a:pt x="414542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-121289">
            <a:off x="9057954" y="3587102"/>
            <a:ext cx="2621319" cy="761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9"/>
              </a:lnSpc>
            </a:pPr>
            <a:r>
              <a:rPr lang="en-US" sz="1799" b="true">
                <a:solidFill>
                  <a:srgbClr val="F9F7ED">
                    <a:alpha val="84706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df[</a:t>
            </a:r>
            <a:r>
              <a:rPr lang="en-US" sz="1799">
                <a:solidFill>
                  <a:srgbClr val="F9F7ED">
                    <a:alpha val="84706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SalesDate</a:t>
            </a:r>
            <a:r>
              <a:rPr lang="en-US" sz="1799" b="true">
                <a:solidFill>
                  <a:srgbClr val="F9F7ED">
                    <a:alpha val="84706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] = pd to datetime(</a:t>
            </a:r>
          </a:p>
          <a:p>
            <a:pPr algn="l">
              <a:lnSpc>
                <a:spcPts val="2069"/>
              </a:lnSpc>
            </a:pPr>
            <a:r>
              <a:rPr lang="en-US" sz="1799" b="true">
                <a:solidFill>
                  <a:srgbClr val="F9F7ED">
                    <a:alpha val="84706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    df[</a:t>
            </a:r>
            <a:r>
              <a:rPr lang="en-US" sz="1799">
                <a:solidFill>
                  <a:srgbClr val="F9F7ED">
                    <a:alpha val="84706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SalesDate</a:t>
            </a:r>
            <a:r>
              <a:rPr lang="en-US" sz="1799" b="true">
                <a:solidFill>
                  <a:srgbClr val="F9F7ED">
                    <a:alpha val="84706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]}</a:t>
            </a:r>
          </a:p>
          <a:p>
            <a:pPr algn="l">
              <a:lnSpc>
                <a:spcPts val="2069"/>
              </a:lnSpc>
            </a:pPr>
            <a:r>
              <a:rPr lang="en-US" sz="1799">
                <a:solidFill>
                  <a:srgbClr val="F9F7ED">
                    <a:alpha val="84706"/>
                  </a:srgbClr>
                </a:solidFill>
                <a:latin typeface="TT Bluescreens"/>
                <a:ea typeface="TT Bluescreens"/>
                <a:cs typeface="TT Bluescreens"/>
                <a:sym typeface="TT Bluescreens"/>
              </a:rPr>
              <a:t>df[SalesDate</a:t>
            </a:r>
            <a:r>
              <a:rPr lang="en-US" sz="1799" b="true">
                <a:solidFill>
                  <a:srgbClr val="F9F7ED">
                    <a:alpha val="84706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].dtype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487732" y="4285339"/>
            <a:ext cx="4145426" cy="1508614"/>
          </a:xfrm>
          <a:custGeom>
            <a:avLst/>
            <a:gdLst/>
            <a:ahLst/>
            <a:cxnLst/>
            <a:rect r="r" b="b" t="t" l="l"/>
            <a:pathLst>
              <a:path h="1508614" w="4145426">
                <a:moveTo>
                  <a:pt x="0" y="0"/>
                </a:moveTo>
                <a:lnTo>
                  <a:pt x="4145426" y="0"/>
                </a:lnTo>
                <a:lnTo>
                  <a:pt x="414542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940052" y="4822184"/>
            <a:ext cx="3428362" cy="24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7"/>
              </a:lnSpc>
              <a:spcBef>
                <a:spcPct val="0"/>
              </a:spcBef>
            </a:pPr>
            <a:r>
              <a:rPr lang="en-US" b="true" sz="1649" strike="noStrike" u="none">
                <a:solidFill>
                  <a:srgbClr val="F9F7ED">
                    <a:alpha val="84706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Task 3c • vendite nel tempo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487732" y="5564382"/>
            <a:ext cx="4145426" cy="1508614"/>
          </a:xfrm>
          <a:custGeom>
            <a:avLst/>
            <a:gdLst/>
            <a:ahLst/>
            <a:cxnLst/>
            <a:rect r="r" b="b" t="t" l="l"/>
            <a:pathLst>
              <a:path h="1508614" w="4145426">
                <a:moveTo>
                  <a:pt x="0" y="0"/>
                </a:moveTo>
                <a:lnTo>
                  <a:pt x="4145426" y="0"/>
                </a:lnTo>
                <a:lnTo>
                  <a:pt x="414542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861261" y="5793115"/>
            <a:ext cx="591911" cy="1076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21"/>
              </a:lnSpc>
              <a:spcBef>
                <a:spcPct val="0"/>
              </a:spcBef>
            </a:pPr>
            <a:r>
              <a:rPr lang="en-US" b="true" sz="1300" strike="noStrike" u="none">
                <a:solidFill>
                  <a:srgbClr val="FFFFFF">
                    <a:alpha val="84706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Ho convertito SalesDate in formato data e verificato i valori.</a:t>
            </a:r>
          </a:p>
        </p:txBody>
      </p:sp>
      <p:sp>
        <p:nvSpPr>
          <p:cNvPr name="TextBox 10" id="10"/>
          <p:cNvSpPr txBox="true"/>
          <p:nvPr/>
        </p:nvSpPr>
        <p:spPr>
          <a:xfrm rot="94921">
            <a:off x="8784149" y="6087362"/>
            <a:ext cx="3428362" cy="26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FFFFF">
                    <a:alpha val="84706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Ho estratto anno, mese e giorno della settimana.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268976" y="6854356"/>
            <a:ext cx="4145426" cy="1508614"/>
          </a:xfrm>
          <a:custGeom>
            <a:avLst/>
            <a:gdLst/>
            <a:ahLst/>
            <a:cxnLst/>
            <a:rect r="r" b="b" t="t" l="l"/>
            <a:pathLst>
              <a:path h="1508614" w="4145426">
                <a:moveTo>
                  <a:pt x="0" y="0"/>
                </a:moveTo>
                <a:lnTo>
                  <a:pt x="4145426" y="0"/>
                </a:lnTo>
                <a:lnTo>
                  <a:pt x="414542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727315" y="7028104"/>
            <a:ext cx="591911" cy="1076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21"/>
              </a:lnSpc>
              <a:spcBef>
                <a:spcPct val="0"/>
              </a:spcBef>
            </a:pPr>
            <a:r>
              <a:rPr lang="en-US" b="true" sz="1300" strike="noStrike" u="none">
                <a:solidFill>
                  <a:srgbClr val="FFFFFF">
                    <a:alpha val="84706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Ho calcolato il fatturato mensile e la variazione nel tempo.</a:t>
            </a:r>
          </a:p>
        </p:txBody>
      </p:sp>
      <p:sp>
        <p:nvSpPr>
          <p:cNvPr name="TextBox 13" id="13"/>
          <p:cNvSpPr txBox="true"/>
          <p:nvPr/>
        </p:nvSpPr>
        <p:spPr>
          <a:xfrm rot="174023">
            <a:off x="8672933" y="7397666"/>
            <a:ext cx="3695890" cy="26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9F7ED">
                    <a:alpha val="84706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Ho aggiunto un indicatore per le vendite recenti.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622220" y="2569017"/>
            <a:ext cx="5020450" cy="4941258"/>
          </a:xfrm>
          <a:custGeom>
            <a:avLst/>
            <a:gdLst/>
            <a:ahLst/>
            <a:cxnLst/>
            <a:rect r="r" b="b" t="t" l="l"/>
            <a:pathLst>
              <a:path h="4941258" w="5020450">
                <a:moveTo>
                  <a:pt x="0" y="0"/>
                </a:moveTo>
                <a:lnTo>
                  <a:pt x="5020450" y="0"/>
                </a:lnTo>
                <a:lnTo>
                  <a:pt x="5020450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-168750">
            <a:off x="12918044" y="3139418"/>
            <a:ext cx="2153718" cy="269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3"/>
              </a:lnSpc>
            </a:pPr>
            <a:r>
              <a:rPr lang="en-US" sz="2003" b="true">
                <a:solidFill>
                  <a:srgbClr val="FFFFFF">
                    <a:alpha val="84706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Fatturato mensile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622220" y="3640352"/>
            <a:ext cx="4582938" cy="3224936"/>
          </a:xfrm>
          <a:custGeom>
            <a:avLst/>
            <a:gdLst/>
            <a:ahLst/>
            <a:cxnLst/>
            <a:rect r="r" b="b" t="t" l="l"/>
            <a:pathLst>
              <a:path h="3224936" w="4582938">
                <a:moveTo>
                  <a:pt x="0" y="0"/>
                </a:moveTo>
                <a:lnTo>
                  <a:pt x="4582938" y="0"/>
                </a:lnTo>
                <a:lnTo>
                  <a:pt x="458293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105468">
            <a:off x="12712433" y="6787139"/>
            <a:ext cx="3974257" cy="21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0" b="true">
                <a:solidFill>
                  <a:srgbClr val="FFFFFF">
                    <a:alpha val="84706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Gen Feb Mar Apr Mag Giu Lug Ago Set Ott Nov Dic</a:t>
            </a:r>
          </a:p>
        </p:txBody>
      </p:sp>
      <p:sp>
        <p:nvSpPr>
          <p:cNvPr name="TextBox 18" id="18"/>
          <p:cNvSpPr txBox="true"/>
          <p:nvPr/>
        </p:nvSpPr>
        <p:spPr>
          <a:xfrm rot="-121289">
            <a:off x="9128481" y="3232784"/>
            <a:ext cx="591911" cy="21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300" b="true">
                <a:solidFill>
                  <a:srgbClr val="FFFFFF">
                    <a:alpha val="84706"/>
                  </a:srgbClr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In [ ]: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717426" cy="10287000"/>
          </a:xfrm>
          <a:custGeom>
            <a:avLst/>
            <a:gdLst/>
            <a:ahLst/>
            <a:cxnLst/>
            <a:rect r="r" b="b" t="t" l="l"/>
            <a:pathLst>
              <a:path h="10287000" w="8717426">
                <a:moveTo>
                  <a:pt x="0" y="0"/>
                </a:moveTo>
                <a:lnTo>
                  <a:pt x="8717426" y="0"/>
                </a:lnTo>
                <a:lnTo>
                  <a:pt x="87174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97244" y="0"/>
            <a:ext cx="4790756" cy="6438940"/>
          </a:xfrm>
          <a:custGeom>
            <a:avLst/>
            <a:gdLst/>
            <a:ahLst/>
            <a:cxnLst/>
            <a:rect r="r" b="b" t="t" l="l"/>
            <a:pathLst>
              <a:path h="6438940" w="4790756">
                <a:moveTo>
                  <a:pt x="0" y="0"/>
                </a:moveTo>
                <a:lnTo>
                  <a:pt x="4790756" y="0"/>
                </a:lnTo>
                <a:lnTo>
                  <a:pt x="4790756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87732" y="1071335"/>
            <a:ext cx="9592450" cy="8362970"/>
          </a:xfrm>
          <a:custGeom>
            <a:avLst/>
            <a:gdLst/>
            <a:ahLst/>
            <a:cxnLst/>
            <a:rect r="r" b="b" t="t" l="l"/>
            <a:pathLst>
              <a:path h="8362970" w="9592450">
                <a:moveTo>
                  <a:pt x="0" y="0"/>
                </a:moveTo>
                <a:lnTo>
                  <a:pt x="9592450" y="0"/>
                </a:lnTo>
                <a:lnTo>
                  <a:pt x="9592450" y="8362970"/>
                </a:lnTo>
                <a:lnTo>
                  <a:pt x="0" y="8362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42950" y="676275"/>
            <a:ext cx="7429500" cy="63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2"/>
              </a:lnSpc>
              <a:spcBef>
                <a:spcPct val="0"/>
              </a:spcBef>
            </a:pPr>
            <a:r>
              <a:rPr lang="en-US" sz="4297" strike="noStrike" u="non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Task 4 · Visualizzazione e Storytelling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2950" y="1509395"/>
            <a:ext cx="742950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Ho realizzato grafici che rispondono a domande concrete sui dati.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2950" y="2561082"/>
            <a:ext cx="742950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Ho rappresentato l’andamento mensile del fatturato.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2950" y="4069969"/>
            <a:ext cx="7429500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Ho confrontato categorie con un boxplot e analizzato la distribuzione.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0019024" cy="10287000"/>
          </a:xfrm>
          <a:custGeom>
            <a:avLst/>
            <a:gdLst/>
            <a:ahLst/>
            <a:cxnLst/>
            <a:rect r="r" b="b" t="t" l="l"/>
            <a:pathLst>
              <a:path h="10287000" w="10019024">
                <a:moveTo>
                  <a:pt x="0" y="0"/>
                </a:moveTo>
                <a:lnTo>
                  <a:pt x="10019024" y="0"/>
                </a:lnTo>
                <a:lnTo>
                  <a:pt x="1001902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12708" y="3848060"/>
            <a:ext cx="2406316" cy="1300906"/>
          </a:xfrm>
          <a:custGeom>
            <a:avLst/>
            <a:gdLst/>
            <a:ahLst/>
            <a:cxnLst/>
            <a:rect r="r" b="b" t="t" l="l"/>
            <a:pathLst>
              <a:path h="1300906" w="240631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612708" y="5138034"/>
            <a:ext cx="2406316" cy="1300906"/>
          </a:xfrm>
          <a:custGeom>
            <a:avLst/>
            <a:gdLst/>
            <a:ahLst/>
            <a:cxnLst/>
            <a:rect r="r" b="b" t="t" l="l"/>
            <a:pathLst>
              <a:path h="1300906" w="240631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612708" y="6428009"/>
            <a:ext cx="2406316" cy="1082267"/>
          </a:xfrm>
          <a:custGeom>
            <a:avLst/>
            <a:gdLst/>
            <a:ahLst/>
            <a:cxnLst/>
            <a:rect r="r" b="b" t="t" l="l"/>
            <a:pathLst>
              <a:path h="1082267" w="2406316">
                <a:moveTo>
                  <a:pt x="0" y="0"/>
                </a:moveTo>
                <a:lnTo>
                  <a:pt x="2406316" y="0"/>
                </a:lnTo>
                <a:lnTo>
                  <a:pt x="240631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89330" y="4493047"/>
            <a:ext cx="1750048" cy="2579949"/>
          </a:xfrm>
          <a:custGeom>
            <a:avLst/>
            <a:gdLst/>
            <a:ahLst/>
            <a:cxnLst/>
            <a:rect r="r" b="b" t="t" l="l"/>
            <a:pathLst>
              <a:path h="2579949" w="1750048">
                <a:moveTo>
                  <a:pt x="0" y="0"/>
                </a:moveTo>
                <a:lnTo>
                  <a:pt x="1750048" y="0"/>
                </a:lnTo>
                <a:lnTo>
                  <a:pt x="175004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320622" y="4285339"/>
            <a:ext cx="2614134" cy="1508614"/>
          </a:xfrm>
          <a:custGeom>
            <a:avLst/>
            <a:gdLst/>
            <a:ahLst/>
            <a:cxnLst/>
            <a:rect r="r" b="b" t="t" l="l"/>
            <a:pathLst>
              <a:path h="1508614" w="2614134">
                <a:moveTo>
                  <a:pt x="0" y="0"/>
                </a:moveTo>
                <a:lnTo>
                  <a:pt x="2614134" y="0"/>
                </a:lnTo>
                <a:lnTo>
                  <a:pt x="261413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626453" y="4829398"/>
            <a:ext cx="2116336" cy="35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F8F8F8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Regressione semplice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320622" y="5783021"/>
            <a:ext cx="2614134" cy="1508614"/>
          </a:xfrm>
          <a:custGeom>
            <a:avLst/>
            <a:gdLst/>
            <a:ahLst/>
            <a:cxnLst/>
            <a:rect r="r" b="b" t="t" l="l"/>
            <a:pathLst>
              <a:path h="1508614" w="2614134">
                <a:moveTo>
                  <a:pt x="0" y="0"/>
                </a:moveTo>
                <a:lnTo>
                  <a:pt x="2614134" y="0"/>
                </a:lnTo>
                <a:lnTo>
                  <a:pt x="261413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626453" y="6290299"/>
            <a:ext cx="2116336" cy="35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F8F8F8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Regressione multipla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923818" y="4919394"/>
            <a:ext cx="1104718" cy="1727254"/>
          </a:xfrm>
          <a:custGeom>
            <a:avLst/>
            <a:gdLst/>
            <a:ahLst/>
            <a:cxnLst/>
            <a:rect r="r" b="b" t="t" l="l"/>
            <a:pathLst>
              <a:path h="1727254" w="1104718">
                <a:moveTo>
                  <a:pt x="0" y="0"/>
                </a:moveTo>
                <a:lnTo>
                  <a:pt x="1104718" y="0"/>
                </a:lnTo>
                <a:lnTo>
                  <a:pt x="110471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798842" y="4285339"/>
            <a:ext cx="2843828" cy="3006296"/>
          </a:xfrm>
          <a:custGeom>
            <a:avLst/>
            <a:gdLst/>
            <a:ahLst/>
            <a:cxnLst/>
            <a:rect r="r" b="b" t="t" l="l"/>
            <a:pathLst>
              <a:path h="3006296" w="2843828">
                <a:moveTo>
                  <a:pt x="0" y="0"/>
                </a:moveTo>
                <a:lnTo>
                  <a:pt x="2843828" y="0"/>
                </a:lnTo>
                <a:lnTo>
                  <a:pt x="2843828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269066" y="5395976"/>
            <a:ext cx="1967180" cy="83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601" b="true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Previsione del fatturato futuro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2950" y="790575"/>
            <a:ext cx="6953250" cy="63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2"/>
              </a:lnSpc>
              <a:spcBef>
                <a:spcPct val="0"/>
              </a:spcBef>
            </a:pPr>
            <a:r>
              <a:rPr lang="en-US" sz="4297" strike="noStrike" u="non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Task 5 - Correlazione e Regressione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2950" y="2147570"/>
            <a:ext cx="6953250" cy="2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Ho confrontato la correlazione tra fatturato, quantità e rivenditori.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2950" y="3237535"/>
            <a:ext cx="6953250" cy="26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Ho separato i dati di addestramento e test prima della modellazione.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84708" y="852695"/>
            <a:ext cx="6103292" cy="7291635"/>
          </a:xfrm>
          <a:custGeom>
            <a:avLst/>
            <a:gdLst/>
            <a:ahLst/>
            <a:cxnLst/>
            <a:rect r="r" b="b" t="t" l="l"/>
            <a:pathLst>
              <a:path h="7291635" w="6103292">
                <a:moveTo>
                  <a:pt x="0" y="0"/>
                </a:moveTo>
                <a:lnTo>
                  <a:pt x="6103292" y="0"/>
                </a:lnTo>
                <a:lnTo>
                  <a:pt x="6103292" y="7291635"/>
                </a:lnTo>
                <a:lnTo>
                  <a:pt x="0" y="7291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73598" y="2350377"/>
            <a:ext cx="11987828" cy="7936623"/>
          </a:xfrm>
          <a:custGeom>
            <a:avLst/>
            <a:gdLst/>
            <a:ahLst/>
            <a:cxnLst/>
            <a:rect r="r" b="b" t="t" l="l"/>
            <a:pathLst>
              <a:path h="7936623" w="11987828">
                <a:moveTo>
                  <a:pt x="0" y="0"/>
                </a:moveTo>
                <a:lnTo>
                  <a:pt x="11987828" y="0"/>
                </a:lnTo>
                <a:lnTo>
                  <a:pt x="11987828" y="7936623"/>
                </a:lnTo>
                <a:lnTo>
                  <a:pt x="0" y="7936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06488" y="3421712"/>
            <a:ext cx="4364182" cy="4722618"/>
          </a:xfrm>
          <a:custGeom>
            <a:avLst/>
            <a:gdLst/>
            <a:ahLst/>
            <a:cxnLst/>
            <a:rect r="r" b="b" t="t" l="l"/>
            <a:pathLst>
              <a:path h="4722618" w="4364182">
                <a:moveTo>
                  <a:pt x="0" y="0"/>
                </a:moveTo>
                <a:lnTo>
                  <a:pt x="4364182" y="0"/>
                </a:lnTo>
                <a:lnTo>
                  <a:pt x="4364182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221484">
            <a:off x="9269198" y="3906590"/>
            <a:ext cx="2569854" cy="33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6"/>
              </a:lnSpc>
            </a:pPr>
            <a:r>
              <a:rPr lang="en-US" b="true" sz="1968">
                <a:solidFill>
                  <a:srgbClr val="FFFFFF">
                    <a:alpha val="94902"/>
                  </a:srgbClr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MATRICE DI CONFUSIONE</a:t>
            </a:r>
          </a:p>
        </p:txBody>
      </p:sp>
      <p:sp>
        <p:nvSpPr>
          <p:cNvPr name="TextBox 7" id="7"/>
          <p:cNvSpPr txBox="true"/>
          <p:nvPr/>
        </p:nvSpPr>
        <p:spPr>
          <a:xfrm rot="-221484">
            <a:off x="10230615" y="4542990"/>
            <a:ext cx="973485" cy="466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9"/>
              </a:lnSpc>
            </a:pPr>
            <a:r>
              <a:rPr lang="en-US" sz="1392">
                <a:solidFill>
                  <a:srgbClr val="FFFFFF">
                    <a:alpha val="94902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Predetto No Churn</a:t>
            </a:r>
          </a:p>
        </p:txBody>
      </p:sp>
      <p:sp>
        <p:nvSpPr>
          <p:cNvPr name="TextBox 8" id="8"/>
          <p:cNvSpPr txBox="true"/>
          <p:nvPr/>
        </p:nvSpPr>
        <p:spPr>
          <a:xfrm rot="-221484">
            <a:off x="11682621" y="4497808"/>
            <a:ext cx="694801" cy="466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9"/>
              </a:lnSpc>
            </a:pPr>
            <a:r>
              <a:rPr lang="en-US" sz="1392">
                <a:solidFill>
                  <a:srgbClr val="FFFFFF">
                    <a:alpha val="94902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Predetto Churn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008086" y="5138034"/>
            <a:ext cx="1531292" cy="1508614"/>
          </a:xfrm>
          <a:custGeom>
            <a:avLst/>
            <a:gdLst/>
            <a:ahLst/>
            <a:cxnLst/>
            <a:rect r="r" b="b" t="t" l="l"/>
            <a:pathLst>
              <a:path h="1508614" w="1531292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221484">
            <a:off x="9158703" y="5612310"/>
            <a:ext cx="759872" cy="466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9"/>
              </a:lnSpc>
            </a:pPr>
            <a:r>
              <a:rPr lang="en-US" sz="1392">
                <a:solidFill>
                  <a:srgbClr val="FFFFFF">
                    <a:alpha val="94902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Reale</a:t>
            </a:r>
          </a:p>
          <a:p>
            <a:pPr algn="ctr">
              <a:lnSpc>
                <a:spcPts val="1949"/>
              </a:lnSpc>
            </a:pPr>
            <a:r>
              <a:rPr lang="en-US" sz="1392">
                <a:solidFill>
                  <a:srgbClr val="FFFFFF">
                    <a:alpha val="94902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No Churn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101866" y="4919394"/>
            <a:ext cx="1750048" cy="1519546"/>
          </a:xfrm>
          <a:custGeom>
            <a:avLst/>
            <a:gdLst/>
            <a:ahLst/>
            <a:cxnLst/>
            <a:rect r="r" b="b" t="t" l="l"/>
            <a:pathLst>
              <a:path h="1519546" w="1750048">
                <a:moveTo>
                  <a:pt x="0" y="0"/>
                </a:moveTo>
                <a:lnTo>
                  <a:pt x="1750048" y="0"/>
                </a:lnTo>
                <a:lnTo>
                  <a:pt x="1750048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789330" y="6428009"/>
            <a:ext cx="1542230" cy="1508614"/>
          </a:xfrm>
          <a:custGeom>
            <a:avLst/>
            <a:gdLst/>
            <a:ahLst/>
            <a:cxnLst/>
            <a:rect r="r" b="b" t="t" l="l"/>
            <a:pathLst>
              <a:path h="1508614" w="1542230">
                <a:moveTo>
                  <a:pt x="0" y="0"/>
                </a:moveTo>
                <a:lnTo>
                  <a:pt x="1542230" y="0"/>
                </a:lnTo>
                <a:lnTo>
                  <a:pt x="154223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101866" y="6428009"/>
            <a:ext cx="1531292" cy="1508614"/>
          </a:xfrm>
          <a:custGeom>
            <a:avLst/>
            <a:gdLst/>
            <a:ahLst/>
            <a:cxnLst/>
            <a:rect r="r" b="b" t="t" l="l"/>
            <a:pathLst>
              <a:path h="1508614" w="1531292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840976" y="3214004"/>
            <a:ext cx="4582938" cy="4930326"/>
          </a:xfrm>
          <a:custGeom>
            <a:avLst/>
            <a:gdLst/>
            <a:ahLst/>
            <a:cxnLst/>
            <a:rect r="r" b="b" t="t" l="l"/>
            <a:pathLst>
              <a:path h="4930326" w="4582938">
                <a:moveTo>
                  <a:pt x="0" y="0"/>
                </a:moveTo>
                <a:lnTo>
                  <a:pt x="4582938" y="0"/>
                </a:lnTo>
                <a:lnTo>
                  <a:pt x="4582938" y="4930326"/>
                </a:lnTo>
                <a:lnTo>
                  <a:pt x="0" y="4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-221484">
            <a:off x="13341550" y="3680820"/>
            <a:ext cx="2463994" cy="346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6"/>
              </a:lnSpc>
            </a:pPr>
            <a:r>
              <a:rPr lang="en-US" b="true" sz="1968">
                <a:solidFill>
                  <a:srgbClr val="FFFFFF">
                    <a:alpha val="94902"/>
                  </a:srgbClr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CONFRONTO METRICHE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361330" y="4285339"/>
            <a:ext cx="1968804" cy="644987"/>
          </a:xfrm>
          <a:custGeom>
            <a:avLst/>
            <a:gdLst/>
            <a:ahLst/>
            <a:cxnLst/>
            <a:rect r="r" b="b" t="t" l="l"/>
            <a:pathLst>
              <a:path h="644987" w="1968804">
                <a:moveTo>
                  <a:pt x="0" y="0"/>
                </a:moveTo>
                <a:lnTo>
                  <a:pt x="1968804" y="0"/>
                </a:lnTo>
                <a:lnTo>
                  <a:pt x="196880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361330" y="4711687"/>
            <a:ext cx="1968804" cy="655919"/>
          </a:xfrm>
          <a:custGeom>
            <a:avLst/>
            <a:gdLst/>
            <a:ahLst/>
            <a:cxnLst/>
            <a:rect r="r" b="b" t="t" l="l"/>
            <a:pathLst>
              <a:path h="655919" w="1968804">
                <a:moveTo>
                  <a:pt x="0" y="0"/>
                </a:moveTo>
                <a:lnTo>
                  <a:pt x="1968804" y="0"/>
                </a:lnTo>
                <a:lnTo>
                  <a:pt x="196880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278488" y="5138034"/>
            <a:ext cx="3926670" cy="437279"/>
          </a:xfrm>
          <a:custGeom>
            <a:avLst/>
            <a:gdLst/>
            <a:ahLst/>
            <a:cxnLst/>
            <a:rect r="r" b="b" t="t" l="l"/>
            <a:pathLst>
              <a:path h="437279" w="3926670">
                <a:moveTo>
                  <a:pt x="0" y="0"/>
                </a:moveTo>
                <a:lnTo>
                  <a:pt x="3926670" y="0"/>
                </a:lnTo>
                <a:lnTo>
                  <a:pt x="392667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361330" y="5564382"/>
            <a:ext cx="1968804" cy="437279"/>
          </a:xfrm>
          <a:custGeom>
            <a:avLst/>
            <a:gdLst/>
            <a:ahLst/>
            <a:cxnLst/>
            <a:rect r="r" b="b" t="t" l="l"/>
            <a:pathLst>
              <a:path h="437279" w="1968804">
                <a:moveTo>
                  <a:pt x="0" y="0"/>
                </a:moveTo>
                <a:lnTo>
                  <a:pt x="1968804" y="0"/>
                </a:lnTo>
                <a:lnTo>
                  <a:pt x="196880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361330" y="5990729"/>
            <a:ext cx="1968804" cy="448211"/>
          </a:xfrm>
          <a:custGeom>
            <a:avLst/>
            <a:gdLst/>
            <a:ahLst/>
            <a:cxnLst/>
            <a:rect r="r" b="b" t="t" l="l"/>
            <a:pathLst>
              <a:path h="448211" w="1968804">
                <a:moveTo>
                  <a:pt x="0" y="0"/>
                </a:moveTo>
                <a:lnTo>
                  <a:pt x="1968804" y="0"/>
                </a:lnTo>
                <a:lnTo>
                  <a:pt x="196880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-221484">
            <a:off x="13272383" y="5858911"/>
            <a:ext cx="862748" cy="274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FFFFFF">
                    <a:alpha val="94902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Precision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059732" y="6428009"/>
            <a:ext cx="4145426" cy="218640"/>
          </a:xfrm>
          <a:custGeom>
            <a:avLst/>
            <a:gdLst/>
            <a:ahLst/>
            <a:cxnLst/>
            <a:rect r="r" b="b" t="t" l="l"/>
            <a:pathLst>
              <a:path h="218640" w="4145426">
                <a:moveTo>
                  <a:pt x="0" y="0"/>
                </a:moveTo>
                <a:lnTo>
                  <a:pt x="4145426" y="0"/>
                </a:lnTo>
                <a:lnTo>
                  <a:pt x="414542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361330" y="6635716"/>
            <a:ext cx="1968804" cy="655919"/>
          </a:xfrm>
          <a:custGeom>
            <a:avLst/>
            <a:gdLst/>
            <a:ahLst/>
            <a:cxnLst/>
            <a:rect r="r" b="b" t="t" l="l"/>
            <a:pathLst>
              <a:path h="655919" w="1968804">
                <a:moveTo>
                  <a:pt x="0" y="0"/>
                </a:moveTo>
                <a:lnTo>
                  <a:pt x="1968804" y="0"/>
                </a:lnTo>
                <a:lnTo>
                  <a:pt x="196880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142574" y="7280704"/>
            <a:ext cx="2187560" cy="437279"/>
          </a:xfrm>
          <a:custGeom>
            <a:avLst/>
            <a:gdLst/>
            <a:ahLst/>
            <a:cxnLst/>
            <a:rect r="r" b="b" t="t" l="l"/>
            <a:pathLst>
              <a:path h="437279" w="2187560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-221484">
            <a:off x="16405299" y="6832353"/>
            <a:ext cx="602563" cy="21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1"/>
              </a:lnSpc>
            </a:pPr>
            <a:r>
              <a:rPr lang="en-US" sz="1300">
                <a:solidFill>
                  <a:srgbClr val="FFFFFF">
                    <a:alpha val="94902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Soglia 1</a:t>
            </a:r>
          </a:p>
        </p:txBody>
      </p:sp>
      <p:sp>
        <p:nvSpPr>
          <p:cNvPr name="TextBox 26" id="26"/>
          <p:cNvSpPr txBox="true"/>
          <p:nvPr/>
        </p:nvSpPr>
        <p:spPr>
          <a:xfrm rot="-221484">
            <a:off x="13300313" y="4669105"/>
            <a:ext cx="859395" cy="274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FFFFFF">
                    <a:alpha val="94902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Accuracy</a:t>
            </a:r>
          </a:p>
        </p:txBody>
      </p:sp>
      <p:sp>
        <p:nvSpPr>
          <p:cNvPr name="TextBox 27" id="27"/>
          <p:cNvSpPr txBox="true"/>
          <p:nvPr/>
        </p:nvSpPr>
        <p:spPr>
          <a:xfrm rot="-221484">
            <a:off x="9164100" y="6832238"/>
            <a:ext cx="481187" cy="466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9"/>
              </a:lnSpc>
            </a:pPr>
            <a:r>
              <a:rPr lang="en-US" sz="1392">
                <a:solidFill>
                  <a:srgbClr val="FFFFFF">
                    <a:alpha val="94902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Reale</a:t>
            </a:r>
          </a:p>
          <a:p>
            <a:pPr algn="ctr">
              <a:lnSpc>
                <a:spcPts val="1949"/>
              </a:lnSpc>
            </a:pPr>
            <a:r>
              <a:rPr lang="en-US" sz="1392">
                <a:solidFill>
                  <a:srgbClr val="FFFFFF">
                    <a:alpha val="94902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Churn</a:t>
            </a:r>
          </a:p>
        </p:txBody>
      </p:sp>
      <p:sp>
        <p:nvSpPr>
          <p:cNvPr name="TextBox 28" id="28"/>
          <p:cNvSpPr txBox="true"/>
          <p:nvPr/>
        </p:nvSpPr>
        <p:spPr>
          <a:xfrm rot="-221484">
            <a:off x="16444679" y="4347314"/>
            <a:ext cx="602563" cy="21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1"/>
              </a:lnSpc>
            </a:pPr>
            <a:r>
              <a:rPr lang="en-US" sz="1300">
                <a:solidFill>
                  <a:srgbClr val="FFFFFF">
                    <a:alpha val="94902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Soglia 1</a:t>
            </a:r>
          </a:p>
        </p:txBody>
      </p:sp>
      <p:sp>
        <p:nvSpPr>
          <p:cNvPr name="TextBox 29" id="29"/>
          <p:cNvSpPr txBox="true"/>
          <p:nvPr/>
        </p:nvSpPr>
        <p:spPr>
          <a:xfrm rot="-221484">
            <a:off x="16405299" y="6034128"/>
            <a:ext cx="602563" cy="21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1"/>
              </a:lnSpc>
            </a:pPr>
            <a:r>
              <a:rPr lang="en-US" sz="1300">
                <a:solidFill>
                  <a:srgbClr val="FFFFFF">
                    <a:alpha val="94902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Soglia 2</a:t>
            </a:r>
          </a:p>
        </p:txBody>
      </p:sp>
      <p:sp>
        <p:nvSpPr>
          <p:cNvPr name="TextBox 30" id="30"/>
          <p:cNvSpPr txBox="true"/>
          <p:nvPr/>
        </p:nvSpPr>
        <p:spPr>
          <a:xfrm rot="-221484">
            <a:off x="16379046" y="7284178"/>
            <a:ext cx="602563" cy="21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1"/>
              </a:lnSpc>
            </a:pPr>
            <a:r>
              <a:rPr lang="en-US" sz="1300">
                <a:solidFill>
                  <a:srgbClr val="FFFFFF">
                    <a:alpha val="94902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Soglia 2</a:t>
            </a:r>
          </a:p>
        </p:txBody>
      </p:sp>
      <p:sp>
        <p:nvSpPr>
          <p:cNvPr name="TextBox 31" id="31"/>
          <p:cNvSpPr txBox="true"/>
          <p:nvPr/>
        </p:nvSpPr>
        <p:spPr>
          <a:xfrm rot="-221484">
            <a:off x="16444679" y="4799139"/>
            <a:ext cx="602563" cy="21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1"/>
              </a:lnSpc>
            </a:pPr>
            <a:r>
              <a:rPr lang="en-US" sz="1300">
                <a:solidFill>
                  <a:srgbClr val="FFFFFF">
                    <a:alpha val="94902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Soglia 2</a:t>
            </a:r>
          </a:p>
        </p:txBody>
      </p:sp>
      <p:sp>
        <p:nvSpPr>
          <p:cNvPr name="TextBox 32" id="32"/>
          <p:cNvSpPr txBox="true"/>
          <p:nvPr/>
        </p:nvSpPr>
        <p:spPr>
          <a:xfrm rot="-221484">
            <a:off x="16405299" y="5597364"/>
            <a:ext cx="602563" cy="21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1"/>
              </a:lnSpc>
            </a:pPr>
            <a:r>
              <a:rPr lang="en-US" sz="1300">
                <a:solidFill>
                  <a:srgbClr val="FFFFFF">
                    <a:alpha val="94902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Soglia 1</a:t>
            </a:r>
          </a:p>
        </p:txBody>
      </p:sp>
      <p:sp>
        <p:nvSpPr>
          <p:cNvPr name="TextBox 33" id="33"/>
          <p:cNvSpPr txBox="true"/>
          <p:nvPr/>
        </p:nvSpPr>
        <p:spPr>
          <a:xfrm rot="-221484">
            <a:off x="13236531" y="7048717"/>
            <a:ext cx="561549" cy="274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FFFFFF">
                    <a:alpha val="94902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Recall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76300" y="695325"/>
            <a:ext cx="6572250" cy="59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94"/>
              </a:lnSpc>
              <a:spcBef>
                <a:spcPct val="0"/>
              </a:spcBef>
            </a:pPr>
            <a:r>
              <a:rPr lang="en-US" sz="4102" strike="noStrike" u="non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Task 6A - Churn dei Rivenditori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76300" y="1990090"/>
            <a:ext cx="657225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Ho definito le variabili di ingresso e l’etichetta di churn.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76300" y="3441624"/>
            <a:ext cx="6572250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Ho diviso i dati in training e test mantenendo le proporzioni.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76300" y="4455008"/>
            <a:ext cx="6572250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Ho addestrato una regressione logistica e confrontato le soglie.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76300" y="5687466"/>
            <a:ext cx="6572250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Ho valutato Accuracy, Precision e Recall con la matrice di confusione.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51818" y="852695"/>
            <a:ext cx="5020450" cy="4296271"/>
          </a:xfrm>
          <a:custGeom>
            <a:avLst/>
            <a:gdLst/>
            <a:ahLst/>
            <a:cxnLst/>
            <a:rect r="r" b="b" t="t" l="l"/>
            <a:pathLst>
              <a:path h="4296271" w="5020450">
                <a:moveTo>
                  <a:pt x="0" y="0"/>
                </a:moveTo>
                <a:lnTo>
                  <a:pt x="5020450" y="0"/>
                </a:lnTo>
                <a:lnTo>
                  <a:pt x="5020450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98842" y="3214004"/>
            <a:ext cx="3489158" cy="4296271"/>
          </a:xfrm>
          <a:custGeom>
            <a:avLst/>
            <a:gdLst/>
            <a:ahLst/>
            <a:cxnLst/>
            <a:rect r="r" b="b" t="t" l="l"/>
            <a:pathLst>
              <a:path h="4296271" w="3489158">
                <a:moveTo>
                  <a:pt x="0" y="0"/>
                </a:moveTo>
                <a:lnTo>
                  <a:pt x="3489158" y="0"/>
                </a:lnTo>
                <a:lnTo>
                  <a:pt x="3489158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56440" y="1497682"/>
            <a:ext cx="10467474" cy="7717983"/>
          </a:xfrm>
          <a:custGeom>
            <a:avLst/>
            <a:gdLst/>
            <a:ahLst/>
            <a:cxnLst/>
            <a:rect r="r" b="b" t="t" l="l"/>
            <a:pathLst>
              <a:path h="7717983" w="10467474">
                <a:moveTo>
                  <a:pt x="0" y="0"/>
                </a:moveTo>
                <a:lnTo>
                  <a:pt x="10467474" y="0"/>
                </a:lnTo>
                <a:lnTo>
                  <a:pt x="10467474" y="7717983"/>
                </a:lnTo>
                <a:lnTo>
                  <a:pt x="0" y="77179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53244" y="1279043"/>
            <a:ext cx="1093780" cy="229572"/>
          </a:xfrm>
          <a:custGeom>
            <a:avLst/>
            <a:gdLst/>
            <a:ahLst/>
            <a:cxnLst/>
            <a:rect r="r" b="b" t="t" l="l"/>
            <a:pathLst>
              <a:path h="229572" w="1093780">
                <a:moveTo>
                  <a:pt x="0" y="0"/>
                </a:moveTo>
                <a:lnTo>
                  <a:pt x="1093780" y="0"/>
                </a:lnTo>
                <a:lnTo>
                  <a:pt x="109378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1500" y="581025"/>
            <a:ext cx="6667500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sz="4200" strike="noStrike" u="non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Task 6B — Segmentazione dei RIVENDITORI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1500" y="1925955"/>
            <a:ext cx="6667500" cy="51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Ho raggruppato i rivenditori in base alle variabili più significative.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1500" y="3377514"/>
            <a:ext cx="6667500" cy="51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Ho confrontato i segmenti per individuare differenze di comportamento.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1500" y="4609998"/>
            <a:ext cx="6667500" cy="51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Ho interpretato i gruppi usando i risultati ottenuti dal clustering.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97244" y="0"/>
            <a:ext cx="4790756" cy="6438940"/>
          </a:xfrm>
          <a:custGeom>
            <a:avLst/>
            <a:gdLst/>
            <a:ahLst/>
            <a:cxnLst/>
            <a:rect r="r" b="b" t="t" l="l"/>
            <a:pathLst>
              <a:path h="6438940" w="4790756">
                <a:moveTo>
                  <a:pt x="0" y="0"/>
                </a:moveTo>
                <a:lnTo>
                  <a:pt x="4790756" y="0"/>
                </a:lnTo>
                <a:lnTo>
                  <a:pt x="4790756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87732" y="1071335"/>
            <a:ext cx="9592450" cy="9215665"/>
          </a:xfrm>
          <a:custGeom>
            <a:avLst/>
            <a:gdLst/>
            <a:ahLst/>
            <a:cxnLst/>
            <a:rect r="r" b="b" t="t" l="l"/>
            <a:pathLst>
              <a:path h="9215665" w="9592450">
                <a:moveTo>
                  <a:pt x="0" y="0"/>
                </a:moveTo>
                <a:lnTo>
                  <a:pt x="9592450" y="0"/>
                </a:lnTo>
                <a:lnTo>
                  <a:pt x="9592450" y="9215665"/>
                </a:lnTo>
                <a:lnTo>
                  <a:pt x="0" y="92156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63661" y="1791251"/>
            <a:ext cx="5432360" cy="141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54"/>
              </a:lnSpc>
            </a:pPr>
            <a:r>
              <a:rPr lang="en-US" sz="10441" b="true">
                <a:solidFill>
                  <a:srgbClr val="FFFFFF">
                    <a:alpha val="84706"/>
                  </a:srgbClr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DEBUGGING 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3646" y="2996118"/>
            <a:ext cx="4433867" cy="141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54"/>
              </a:lnSpc>
            </a:pPr>
            <a:r>
              <a:rPr lang="en-US" sz="10441" b="true">
                <a:solidFill>
                  <a:srgbClr val="F9DB06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CONSEGNA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7281" y="4675581"/>
            <a:ext cx="6960137" cy="128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257" indent="-326129" lvl="1">
              <a:lnSpc>
                <a:spcPts val="3475"/>
              </a:lnSpc>
              <a:buFont typeface="Arial"/>
              <a:buChar char="•"/>
            </a:pPr>
            <a:r>
              <a:rPr lang="en-US" b="true" sz="3022" spc="-90">
                <a:solidFill>
                  <a:srgbClr val="FFFFFF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Ho controllato il notebook e corretto gli errori emersi durante l’esecuzione.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5689" y="5970814"/>
            <a:ext cx="6119345" cy="128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257" indent="-326129" lvl="1">
              <a:lnSpc>
                <a:spcPts val="3475"/>
              </a:lnSpc>
              <a:buFont typeface="Arial"/>
              <a:buChar char="•"/>
            </a:pPr>
            <a:r>
              <a:rPr lang="en-US" b="true" sz="3022" spc="-90">
                <a:solidFill>
                  <a:srgbClr val="FFFFFF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Ho verificato che le celle fossero eseguibili nell’ordine previsto.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9941" y="7311230"/>
            <a:ext cx="6694197" cy="128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2257" indent="-326129" lvl="1">
              <a:lnSpc>
                <a:spcPts val="3475"/>
              </a:lnSpc>
              <a:buFont typeface="Arial"/>
              <a:buChar char="•"/>
            </a:pPr>
            <a:r>
              <a:rPr lang="en-US" b="true" sz="3022" spc="-90">
                <a:solidFill>
                  <a:srgbClr val="FFFFFF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Ho raccolto il lavoro completato nel notebook per la consegna finale.</a:t>
            </a:r>
          </a:p>
        </p:txBody>
      </p:sp>
      <p:sp>
        <p:nvSpPr>
          <p:cNvPr name="TextBox 10" id="10"/>
          <p:cNvSpPr txBox="true"/>
          <p:nvPr/>
        </p:nvSpPr>
        <p:spPr>
          <a:xfrm rot="73828">
            <a:off x="15262190" y="2261859"/>
            <a:ext cx="1799304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FFFFFF">
                    <a:alpha val="84706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Verifica notebook</a:t>
            </a:r>
          </a:p>
        </p:txBody>
      </p:sp>
      <p:sp>
        <p:nvSpPr>
          <p:cNvPr name="TextBox 11" id="11"/>
          <p:cNvSpPr txBox="true"/>
          <p:nvPr/>
        </p:nvSpPr>
        <p:spPr>
          <a:xfrm rot="73828">
            <a:off x="9803059" y="1725206"/>
            <a:ext cx="680907" cy="22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7"/>
              </a:lnSpc>
            </a:pPr>
            <a:r>
              <a:rPr lang="en-US" sz="1513" i="true">
                <a:solidFill>
                  <a:srgbClr val="FFFFFF">
                    <a:alpha val="84706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J.upyter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35119" y="1746211"/>
            <a:ext cx="5803985" cy="141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54"/>
              </a:lnSpc>
            </a:pPr>
            <a:r>
              <a:rPr lang="en-US" sz="10441" spc="101">
                <a:solidFill>
                  <a:srgbClr val="FFFFFF">
                    <a:alpha val="89804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conclusioni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9212" y="3581655"/>
            <a:ext cx="6139626" cy="244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7"/>
              </a:lnSpc>
            </a:pPr>
            <a:r>
              <a:rPr lang="en-US" sz="4267" spc="41">
                <a:solidFill>
                  <a:srgbClr val="FFFFFF">
                    <a:alpha val="89804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Ho svolto le attività richieste</a:t>
            </a:r>
          </a:p>
          <a:p>
            <a:pPr algn="l">
              <a:lnSpc>
                <a:spcPts val="4907"/>
              </a:lnSpc>
            </a:pPr>
            <a:r>
              <a:rPr lang="en-US" sz="4267" spc="41">
                <a:solidFill>
                  <a:srgbClr val="FFFFFF">
                    <a:alpha val="89804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nel notebook, dalla preparazione dei dati alla modellazione.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9252" y="6117423"/>
            <a:ext cx="5219544" cy="912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3150">
                <a:solidFill>
                  <a:srgbClr val="FFFFFF">
                    <a:alpha val="89804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Il lavoro ha combinato analisi,</a:t>
            </a:r>
          </a:p>
          <a:p>
            <a:pPr algn="l">
              <a:lnSpc>
                <a:spcPts val="3622"/>
              </a:lnSpc>
            </a:pPr>
            <a:r>
              <a:rPr lang="en-US" sz="3150">
                <a:solidFill>
                  <a:srgbClr val="FFFFFF">
                    <a:alpha val="89804"/>
                  </a:srgbClr>
                </a:solidFill>
                <a:latin typeface="Bebas Neue"/>
                <a:ea typeface="Bebas Neue"/>
                <a:cs typeface="Bebas Neue"/>
                <a:sym typeface="Bebas Neue"/>
              </a:rPr>
              <a:t>visualizzazione e verifica dei risultati.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4832" y="7945035"/>
            <a:ext cx="6308386" cy="594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9"/>
              </a:lnSpc>
            </a:pPr>
            <a:r>
              <a:rPr lang="en-US" b="true" sz="4267" spc="41">
                <a:solidFill>
                  <a:srgbClr val="F5D207"/>
                </a:solidFill>
                <a:latin typeface="Inter Bold"/>
                <a:ea typeface="Inter Bold"/>
                <a:cs typeface="Inter Bold"/>
                <a:sym typeface="Inter Bold"/>
              </a:rPr>
              <a:t>Grazie per l'attenzione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DAHZZf3LzkU</dc:identifier>
  <dcterms:modified xsi:type="dcterms:W3CDTF">2011-08-01T06:04:30Z</dcterms:modified>
  <cp:revision>1</cp:revision>
  <dc:title>Presentazione con Modello</dc:title>
</cp:coreProperties>
</file>